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fc2cb76aad40b7" /><Relationship Type="http://schemas.openxmlformats.org/officeDocument/2006/relationships/extended-properties" Target="/docProps/app.xml" Id="Rcf393cb765ae43e9" /><Relationship Type="http://schemas.openxmlformats.org/officeDocument/2006/relationships/officeDocument" Target="/ppt/presentation.xml" Id="Rd8eee3b53dff42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e2eaf04c374a4f"/>
  </p:sldMasterIdLst>
  <p:notesMasterIdLst>
    <p:notesMasterId xmlns:r="http://schemas.openxmlformats.org/officeDocument/2006/relationships" r:id="Rca3f2ce2d76440aa"/>
  </p:notesMasterIdLst>
  <p:sldIdLst>
    <p:sldId xmlns:r="http://schemas.openxmlformats.org/officeDocument/2006/relationships" id="256" r:id="R2ca35a279eb4499b"/>
    <p:sldId xmlns:r="http://schemas.openxmlformats.org/officeDocument/2006/relationships" id="257" r:id="Ra8eb8aefacbf417d"/>
    <p:sldId xmlns:r="http://schemas.openxmlformats.org/officeDocument/2006/relationships" id="258" r:id="R80a0e4bfb2324a57"/>
    <p:sldId xmlns:r="http://schemas.openxmlformats.org/officeDocument/2006/relationships" id="259" r:id="R6a51eacf2d6141f6"/>
    <p:sldId xmlns:r="http://schemas.openxmlformats.org/officeDocument/2006/relationships" id="260" r:id="R99f7ee1b3c464389"/>
    <p:sldId xmlns:r="http://schemas.openxmlformats.org/officeDocument/2006/relationships" id="261" r:id="Ra8dad787cf2b4cf5"/>
    <p:sldId xmlns:r="http://schemas.openxmlformats.org/officeDocument/2006/relationships" id="262" r:id="R8d2404939f9e4328"/>
    <p:sldId xmlns:r="http://schemas.openxmlformats.org/officeDocument/2006/relationships" id="263" r:id="Rff7e24985b914e4e"/>
    <p:sldId xmlns:r="http://schemas.openxmlformats.org/officeDocument/2006/relationships" id="264" r:id="Rbe35e31c864e4dbd"/>
    <p:sldId xmlns:r="http://schemas.openxmlformats.org/officeDocument/2006/relationships" id="265" r:id="Rbf0de667ce9849b9"/>
    <p:sldId xmlns:r="http://schemas.openxmlformats.org/officeDocument/2006/relationships" id="266" r:id="R0dbf664ce8a14946"/>
    <p:sldId xmlns:r="http://schemas.openxmlformats.org/officeDocument/2006/relationships" id="267" r:id="R3aed0852ac7e4944"/>
    <p:sldId xmlns:r="http://schemas.openxmlformats.org/officeDocument/2006/relationships" id="268" r:id="R6adf65cb18344a09"/>
    <p:sldId xmlns:r="http://schemas.openxmlformats.org/officeDocument/2006/relationships" id="269" r:id="R86f246f255aa4c47"/>
    <p:sldId xmlns:r="http://schemas.openxmlformats.org/officeDocument/2006/relationships" id="270" r:id="Rf0406a866dcb47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80fd34a3cb491c" /><Relationship Type="http://schemas.openxmlformats.org/officeDocument/2006/relationships/slideMaster" Target="/ppt/slideMasters/slideMaster1.xml" Id="R1fe2eaf04c374a4f" /><Relationship Type="http://schemas.openxmlformats.org/officeDocument/2006/relationships/notesMaster" Target="/ppt/notesMasters/notesMaster1.xml" Id="Rca3f2ce2d76440aa" /><Relationship Type="http://schemas.openxmlformats.org/officeDocument/2006/relationships/presProps" Target="/ppt/presProps.xml" Id="Rd109385d456543dc" /><Relationship Type="http://schemas.openxmlformats.org/officeDocument/2006/relationships/tableStyles" Target="/ppt/tableStyles.xml" Id="R806c6292c0174317" /><Relationship Type="http://schemas.openxmlformats.org/officeDocument/2006/relationships/slide" Target="/ppt/slides/slide1.xml" Id="R2ca35a279eb4499b" /><Relationship Type="http://schemas.openxmlformats.org/officeDocument/2006/relationships/slide" Target="/ppt/slides/slide2.xml" Id="Ra8eb8aefacbf417d" /><Relationship Type="http://schemas.openxmlformats.org/officeDocument/2006/relationships/slide" Target="/ppt/slides/slide3.xml" Id="R80a0e4bfb2324a57" /><Relationship Type="http://schemas.openxmlformats.org/officeDocument/2006/relationships/slide" Target="/ppt/slides/slide4.xml" Id="R6a51eacf2d6141f6" /><Relationship Type="http://schemas.openxmlformats.org/officeDocument/2006/relationships/slide" Target="/ppt/slides/slide5.xml" Id="R99f7ee1b3c464389" /><Relationship Type="http://schemas.openxmlformats.org/officeDocument/2006/relationships/slide" Target="/ppt/slides/slide6.xml" Id="Ra8dad787cf2b4cf5" /><Relationship Type="http://schemas.openxmlformats.org/officeDocument/2006/relationships/slide" Target="/ppt/slides/slide7.xml" Id="R8d2404939f9e4328" /><Relationship Type="http://schemas.openxmlformats.org/officeDocument/2006/relationships/slide" Target="/ppt/slides/slide8.xml" Id="Rff7e24985b914e4e" /><Relationship Type="http://schemas.openxmlformats.org/officeDocument/2006/relationships/slide" Target="/ppt/slides/slide9.xml" Id="Rbe35e31c864e4dbd" /><Relationship Type="http://schemas.openxmlformats.org/officeDocument/2006/relationships/slide" Target="/ppt/slides/slide10.xml" Id="Rbf0de667ce9849b9" /><Relationship Type="http://schemas.openxmlformats.org/officeDocument/2006/relationships/slide" Target="/ppt/slides/slide11.xml" Id="R0dbf664ce8a14946" /><Relationship Type="http://schemas.openxmlformats.org/officeDocument/2006/relationships/slide" Target="/ppt/slides/slide12.xml" Id="R3aed0852ac7e4944" /><Relationship Type="http://schemas.openxmlformats.org/officeDocument/2006/relationships/slide" Target="/ppt/slides/slide13.xml" Id="R6adf65cb18344a09" /><Relationship Type="http://schemas.openxmlformats.org/officeDocument/2006/relationships/slide" Target="/ppt/slides/slide14.xml" Id="R86f246f255aa4c47" /><Relationship Type="http://schemas.openxmlformats.org/officeDocument/2006/relationships/slide" Target="/ppt/slides/slide15.xml" Id="Rf0406a866dcb47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c3cc99a5eb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4db871cf0847e4" /><Relationship Type="http://schemas.openxmlformats.org/officeDocument/2006/relationships/notesMaster" Target="/ppt/notesMasters/notesMaster1.xml" Id="R68338834ed24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ddfd09d52e4147" /><Relationship Type="http://schemas.openxmlformats.org/officeDocument/2006/relationships/notesMaster" Target="/ppt/notesMasters/notesMaster1.xml" Id="R0d80b3d349954a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3388b30b19485f" /><Relationship Type="http://schemas.openxmlformats.org/officeDocument/2006/relationships/notesMaster" Target="/ppt/notesMasters/notesMaster1.xml" Id="R8a8b510b993741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bddc5169384b41" /><Relationship Type="http://schemas.openxmlformats.org/officeDocument/2006/relationships/notesMaster" Target="/ppt/notesMasters/notesMaster1.xml" Id="R329f809b70ae4e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94a4c7a301426d" /><Relationship Type="http://schemas.openxmlformats.org/officeDocument/2006/relationships/notesMaster" Target="/ppt/notesMasters/notesMaster1.xml" Id="R11de6dc46d8948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08480fe3494b1f" /><Relationship Type="http://schemas.openxmlformats.org/officeDocument/2006/relationships/notesMaster" Target="/ppt/notesMasters/notesMaster1.xml" Id="R3d56a4d43ada40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2fca5782be42f3" /><Relationship Type="http://schemas.openxmlformats.org/officeDocument/2006/relationships/notesMaster" Target="/ppt/notesMasters/notesMaster1.xml" Id="R4c6420c313c14e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c37c4bee4348ec" /><Relationship Type="http://schemas.openxmlformats.org/officeDocument/2006/relationships/notesMaster" Target="/ppt/notesMasters/notesMaster1.xml" Id="R245f117f86524b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8591f2737442ca" /><Relationship Type="http://schemas.openxmlformats.org/officeDocument/2006/relationships/notesMaster" Target="/ppt/notesMasters/notesMaster1.xml" Id="R82f91d34827f4d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cec421a42d4679" /><Relationship Type="http://schemas.openxmlformats.org/officeDocument/2006/relationships/notesMaster" Target="/ppt/notesMasters/notesMaster1.xml" Id="R0dd555dd598a43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f4c003eaa64f96" /><Relationship Type="http://schemas.openxmlformats.org/officeDocument/2006/relationships/notesMaster" Target="/ppt/notesMasters/notesMaster1.xml" Id="R5ae47de4885945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719e13f7944367" /><Relationship Type="http://schemas.openxmlformats.org/officeDocument/2006/relationships/notesMaster" Target="/ppt/notesMasters/notesMaster1.xml" Id="R50bb6f520e8f4b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c1954980074e9b" /><Relationship Type="http://schemas.openxmlformats.org/officeDocument/2006/relationships/notesMaster" Target="/ppt/notesMasters/notesMaster1.xml" Id="R30ff32e229f24a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50a414c3274514" /><Relationship Type="http://schemas.openxmlformats.org/officeDocument/2006/relationships/notesMaster" Target="/ppt/notesMasters/notesMaster1.xml" Id="Rdfaa5df960be41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faeee656774a0c" /><Relationship Type="http://schemas.openxmlformats.org/officeDocument/2006/relationships/notesMaster" Target="/ppt/notesMasters/notesMaster1.xml" Id="R3aef45b8fca14a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HopeLeaf e o ExternApp como proposta comercial para o Ensino Médio. Evy foi desenvolvida a partir do desenho fornecido pelo usuário. O logotipo HopeLeaf é o arquivo original fornecido.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modo Apresentação de Slides, clique em um tema. Todos os slides têm retorno ao menu. A navegação interna funciona sem internet.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HopeLeaf propõe concentrar o estudo e parte da rotina escolar em um aplicativo. O Externato usa Poliedro. O projeto complementa o material adotado, sem integração oficial ou reprodução de questões licenciadas.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amostra contém 42 tópicos, dois cartões e duas questões por tópico: 84 flashcards e 84 questões. As turmas A e B de uma série compartilham os conteúdos demonstrativos. A lista de 14 matérias propostas não é uma grade oficial validada.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Demonstração de interação no próprio PowerPoint. Cada alternativa abre um slide de feedback. Não registra pontos, não grava respostas e não depende da execução do ExternApp.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resposta corresponde à questão de citologia da amostra. A fosforilação oxidativa ocorre na membrana interna da mitocôndria. Esta é uma interação ilustrativa do deck, sem pontuação ou conexão com o aplicativo.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Feedback de tentativa incorreta. O usuário pode voltar à pergunta ou abrir a explicação. O PowerPoint não mantém placar.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Oito modelos presentes na prévia. O professor filtra matéria, série sugerida e conteúdo, abre o modo apresentação e segue um roteiro de três etapas. Rotação, zoom, vistas e identificação de estruturas dependem de suporte a WebGL.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coordenação define atividade, disciplina, bimestre e pontuação. O aluno solicita o resgate, e a coordenação aprova ou devolve. Festa Junina e simulado são exemplos. Quizzes e flashcards não concedem pontos escolares.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Exportações Excel e CSV de pontos estão implementadas. Exportação Excel dos treinos inclui aluno, turma, matérias, acertos, total e percentual. Os dados ficam neste dispositivo. Ainda não existe consolidação em servidor entre computadores.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Evy é a mascote solicitada pelo usuário: arara azul exploradora com chapéu e emblema. Na proposta, a personagem aparece nas dicas e na jornada. Não se trata de tutora com IA ou conversa automática implementada.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distingue implementação demonstrativa de produto operacional. O aplicativo é portátil para Windows. Android possui projeto preparado, mas não há APK final entregue. Não afirmar autenticação real, integração Poliedro ou ligação ao boletim.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próximo passo, não cronograma já contratado. A direção define turma, responsáveis, prazo e orçamento em conjunto com a HopeLeaf. Preparar contas e dados compartilhados antes de um piloto com alunos reais. Não há preço ou prazo aprovado nesta apresentação.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o executável Windows do ExternApp que acompanha o projeto. O deck funciona sozinho e não executa programas. A abertura do pacote Windows exige validação no computador de apresentação, pois o ambiente automatizado anterior teve falha gráfica.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com o convite para validar escopo e piloto com a direção. Não há oferta com condições financeiras implícitas. Marca HopeLeaf: imagem original fornecida pelo usuário.</a:t>
            </a:r>
          </a:p>
          <a:p xmlns:a="http://schemas.openxmlformats.org/drawingml/2006/main">
            <a:r>
              <a:t>Contexto: prévia local ExternApp criada para o Externato. Conteúdo de referência: src/Product.jsx, src/learningData.js e MAPA-PEDAGOGICO.md do projeto. Dados e contagens referem-se à demonstração, sem métricas reais de alunos.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7f10ff9514b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28af2672245d8" /><Relationship Type="http://schemas.openxmlformats.org/officeDocument/2006/relationships/slideLayout" Target="/ppt/slideLayouts/slideLayout1.xml" Id="R15a3ddff6a714e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a3ddff6a714e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e78c331bc854ee4"/><Relationship Type="http://schemas.openxmlformats.org/officeDocument/2006/relationships/image" Target="/ppt/media/image.png" Id="R58cb57235f604dc3"/><Relationship Type="http://schemas.openxmlformats.org/officeDocument/2006/relationships/notesSlide" Target="/ppt/notesSlides/notesSlide1.xml" Id="Rdd5f01e18acd4e7e"/><Relationship Id="rIdNavigation1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703404364c94050"/><Relationship Type="http://schemas.openxmlformats.org/officeDocument/2006/relationships/notesSlide" Target="/ppt/notesSlides/notesSlide2.xml" Id="Ra61c9a80d85444b6"/><Relationship Id="rIdNavigation2" Type="http://schemas.openxmlformats.org/officeDocument/2006/relationships/slide" Target="slide4.xml"/><Relationship Id="rIdNavigation3" Type="http://schemas.openxmlformats.org/officeDocument/2006/relationships/slide" Target="slide8.xml"/><Relationship Id="rIdNavigation4" Type="http://schemas.openxmlformats.org/officeDocument/2006/relationships/slide" Target="slide10.xml"/><Relationship Id="rIdNavigation5" Type="http://schemas.openxmlformats.org/officeDocument/2006/relationships/slide" Target="slide13.xml"/><Relationship Id="rIdNavigation6" Type="http://schemas.openxmlformats.org/officeDocument/2006/relationships/slide" Target="slide14.xml"/><Relationship Id="rIdNavigation7" Type="http://schemas.openxmlformats.org/officeDocument/2006/relationships/slide" Target="slide2.xml"/><Relationship Id="rIdNavigation8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8f892154db3430e"/><Relationship Type="http://schemas.openxmlformats.org/officeDocument/2006/relationships/notesSlide" Target="/ppt/notesSlides/notesSlide3.xml" Id="R7a6a6dd477f24124"/><Relationship Id="rIdNavigation9" Type="http://schemas.openxmlformats.org/officeDocument/2006/relationships/slide" Target="slide2.xml"/><Relationship Id="rIdNavigation10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014e837010e4ce9"/><Relationship Type="http://schemas.openxmlformats.org/officeDocument/2006/relationships/notesSlide" Target="/ppt/notesSlides/notesSlide4.xml" Id="Rb4608b0b20e349c6"/><Relationship Id="rIdNavigation11" Type="http://schemas.openxmlformats.org/officeDocument/2006/relationships/slide" Target="slide5.xml"/><Relationship Id="rIdNavigation12" Type="http://schemas.openxmlformats.org/officeDocument/2006/relationships/slide" Target="slide2.xml"/><Relationship Id="rIdNavigation13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2dda3e4a478450c"/><Relationship Type="http://schemas.openxmlformats.org/officeDocument/2006/relationships/notesSlide" Target="/ppt/notesSlides/notesSlide5.xml" Id="Rdce30581205c4694"/><Relationship Id="rIdNavigation14" Type="http://schemas.openxmlformats.org/officeDocument/2006/relationships/slide" Target="slide7.xml"/><Relationship Id="rIdNavigation15" Type="http://schemas.openxmlformats.org/officeDocument/2006/relationships/slide" Target="slide6.xml"/><Relationship Id="rIdNavigation16" Type="http://schemas.openxmlformats.org/officeDocument/2006/relationships/slide" Target="slide7.xml"/><Relationship Id="rIdNavigation17" Type="http://schemas.openxmlformats.org/officeDocument/2006/relationships/slide" Target="slide2.xml"/><Relationship Id="rIdNavigation18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7cd657e04244179"/><Relationship Type="http://schemas.openxmlformats.org/officeDocument/2006/relationships/notesSlide" Target="/ppt/notesSlides/notesSlide6.xml" Id="R1b44e60cb58c4513"/><Relationship Id="rIdNavigation19" Type="http://schemas.openxmlformats.org/officeDocument/2006/relationships/slide" Target="slide8.xml"/><Relationship Id="rIdNavigation20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9266f4f07ff4364"/><Relationship Type="http://schemas.openxmlformats.org/officeDocument/2006/relationships/notesSlide" Target="/ppt/notesSlides/notesSlide7.xml" Id="Rd37ce1ed5a384bd9"/><Relationship Id="rIdNavigation21" Type="http://schemas.openxmlformats.org/officeDocument/2006/relationships/slide" Target="slide5.xml"/><Relationship Id="rIdNavigation22" Type="http://schemas.openxmlformats.org/officeDocument/2006/relationships/slide" Target="slide6.xml"/><Relationship Id="rIdNavigation2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83424ce9b6d4f84"/><Relationship Type="http://schemas.openxmlformats.org/officeDocument/2006/relationships/image" Target="/ppt/media/image.jpeg" Id="Ra37051d4b87a4d2b"/><Relationship Type="http://schemas.openxmlformats.org/officeDocument/2006/relationships/notesSlide" Target="/ppt/notesSlides/notesSlide8.xml" Id="Rd4e4cb1c895a428a"/><Relationship Id="rIdNavigation24" Type="http://schemas.openxmlformats.org/officeDocument/2006/relationships/slide" Target="slide2.xml"/><Relationship Id="rIdNavigation25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3ad1f476d4244b8"/><Relationship Type="http://schemas.openxmlformats.org/officeDocument/2006/relationships/notesSlide" Target="/ppt/notesSlides/notesSlide9.xml" Id="R27690bb1f1c143ba"/><Relationship Id="rIdNavigation26" Type="http://schemas.openxmlformats.org/officeDocument/2006/relationships/slide" Target="slide2.xml"/><Relationship Id="rIdNavigation27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046215a0f754925"/><Relationship Type="http://schemas.openxmlformats.org/officeDocument/2006/relationships/notesSlide" Target="/ppt/notesSlides/notesSlide10.xml" Id="R8659c4b8b542497e"/><Relationship Id="rIdNavigation28" Type="http://schemas.openxmlformats.org/officeDocument/2006/relationships/slide" Target="slide2.xml"/><Relationship Id="rIdNavigation29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79c4b7eb6694658"/><Relationship Type="http://schemas.openxmlformats.org/officeDocument/2006/relationships/image" Target="/ppt/media/image2.png" Id="Rfbbae48bc98049ef"/><Relationship Type="http://schemas.openxmlformats.org/officeDocument/2006/relationships/notesSlide" Target="/ppt/notesSlides/notesSlide11.xml" Id="R7b767c09bfcd4194"/><Relationship Id="rIdNavigation30" Type="http://schemas.openxmlformats.org/officeDocument/2006/relationships/slide" Target="slide2.xml"/><Relationship Id="rIdNavigation31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000afc491484442"/><Relationship Type="http://schemas.openxmlformats.org/officeDocument/2006/relationships/notesSlide" Target="/ppt/notesSlides/notesSlide12.xml" Id="Rd5439b3919664b17"/><Relationship Id="rIdNavigation32" Type="http://schemas.openxmlformats.org/officeDocument/2006/relationships/slide" Target="slide2.xml"/><Relationship Id="rIdNavigation33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5d81d36e1764fe4"/><Relationship Type="http://schemas.openxmlformats.org/officeDocument/2006/relationships/notesSlide" Target="/ppt/notesSlides/notesSlide13.xml" Id="Rf68c4ff0538a4015"/><Relationship Id="rIdNavigation34" Type="http://schemas.openxmlformats.org/officeDocument/2006/relationships/slide" Target="slide2.xml"/><Relationship Id="rIdNavigation35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cad43434af54013"/><Relationship Type="http://schemas.openxmlformats.org/officeDocument/2006/relationships/notesSlide" Target="/ppt/notesSlides/notesSlide14.xml" Id="Rbe0fc88764544ff8"/><Relationship Id="rIdNavigation36" Type="http://schemas.openxmlformats.org/officeDocument/2006/relationships/slide" Target="slide2.xml"/><Relationship Id="rIdNavigation37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90bbc081eeb40d9"/><Relationship Type="http://schemas.openxmlformats.org/officeDocument/2006/relationships/image" Target="/ppt/media/image3.png" Id="R759f13a2e82d4d9b"/><Relationship Type="http://schemas.openxmlformats.org/officeDocument/2006/relationships/notesSlide" Target="/ppt/notesSlides/notesSlide15.xml" Id="Rd3b45ad4ec7448cf"/><Relationship Id="rIdNavigation38" Type="http://schemas.openxmlformats.org/officeDocument/2006/relationships/slide" Target="slide13.xml"/><Relationship Id="rIdNavigation39" Type="http://schemas.openxmlformats.org/officeDocument/2006/relationships/slide" Target="slide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b57235f604dc3"/>
          <a:stretch xmlns:a="http://schemas.openxmlformats.org/drawingml/2006/main"/>
        </p:blipFill>
        <p:spPr>
          <a:xfrm xmlns:a="http://schemas.openxmlformats.org/drawingml/2006/main">
            <a:off x="5810250" y="523875"/>
            <a:ext cx="5953125" cy="5953125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23AAB7-96F9-4846-951B-621F637C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CE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E20"/>
                </a:solidFill>
                <a:latin typeface="Arial"/>
                <a:ea typeface="Arial"/>
                <a:cs typeface="Arial"/>
              </a:rPr>
              <a:t>HopeLeaf apresenta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6E6A4A-4CFA-4B59-9BB1-68895D0E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61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ExternApp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424DAE1-B9D0-44AA-8FBF-93A032B7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514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4D7EB"/>
                </a:solidFill>
                <a:latin typeface="Arial"/>
                <a:ea typeface="Arial"/>
                <a:cs typeface="Arial"/>
              </a:rPr>
              <a:t>Uma proposta para o Ensino Médio</a:t>
            </a:r>
          </a:p>
          <a:p xmlns:a="http://schemas.openxmlformats.org/drawingml/2006/main">
            <a:pPr>
              <a:defRPr sz="2400" b="0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4D7EB"/>
                </a:solidFill>
                <a:latin typeface="Arial"/>
                <a:ea typeface="Arial"/>
                <a:cs typeface="Arial"/>
              </a:rPr>
              <a:t>do Colégio Externato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D8FC093-6F78-4361-8D36-8E31C3E6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CE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CE20"/>
                </a:solidFill>
                <a:latin typeface="Arial"/>
                <a:ea typeface="Arial"/>
                <a:cs typeface="Arial"/>
              </a:rPr>
              <a:t>Com Evy, a arara azul exploradora</a:t>
            </a:r>
          </a:p>
        </p:txBody>
      </p:sp>
      <p:sp>
        <p:nvSpPr>
          <p:cNvPr id="6" name="goto-2-5">
            <a:extLst xmlns:a="http://schemas.openxmlformats.org/drawingml/2006/main">
              <a:ext uri="{FF2B5EF4-FFF2-40B4-BE49-F238E27FC236}">
                <a16:creationId xmlns:a16="http://schemas.microsoft.com/office/drawing/2014/main" id="{21B25495-319D-4442-AEE6-776041AF1997}"/>
              </a:ext>
            </a:extLst>
            <ns0:hlinkClick xmlns:ns0="http://schemas.openxmlformats.org/drawingml/2006/main" xmlns:ns1="http://schemas.openxmlformats.org/officeDocument/2006/relationships" ns1:id="rIdNavigation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Explorar a proposta</a:t>
            </a:r>
          </a:p>
        </p:txBody>
      </p:sp>
    </p:spTree>
    <p:extLst>
      <p:ext uri="{BB962C8B-B14F-4D97-AF65-F5344CB8AC3E}">
        <p14:creationId xmlns:p14="http://schemas.microsoft.com/office/powerpoint/2010/main" val="1821968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6">
            <a:extLst xmlns:a="http://schemas.openxmlformats.org/drawingml/2006/main">
              <a:ext uri="{FF2B5EF4-FFF2-40B4-BE49-F238E27FC236}">
                <a16:creationId xmlns:a16="http://schemas.microsoft.com/office/drawing/2014/main" id="{38EE527F-E36B-4ED1-B89D-E05DF662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Por onde começamos?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E09FCFAE-39DA-4983-9348-05E709C6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Escolha o tema da conversa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07E550EA-3836-4AEA-AE52-59A36BDA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goto-4-9">
            <a:extLst xmlns:a="http://schemas.openxmlformats.org/drawingml/2006/main">
              <a:ext uri="{FF2B5EF4-FFF2-40B4-BE49-F238E27FC236}">
                <a16:creationId xmlns:a16="http://schemas.microsoft.com/office/drawing/2014/main" id="{BACA11B6-66FD-47DC-887C-F73BF75EA22E}"/>
              </a:ext>
            </a:extLst>
            <ns0:hlinkClick xmlns:ns0="http://schemas.openxmlformats.org/drawingml/2006/main" xmlns:ns1="http://schemas.openxmlformats.org/officeDocument/2006/relationships" ns1:id="rIdNavigation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1457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Experiência do aluno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ABD1F2D3-9D47-4B1C-8A85-A0FF28D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goto-8-11">
            <a:extLst xmlns:a="http://schemas.openxmlformats.org/drawingml/2006/main">
              <a:ext uri="{FF2B5EF4-FFF2-40B4-BE49-F238E27FC236}">
                <a16:creationId xmlns:a16="http://schemas.microsoft.com/office/drawing/2014/main" id="{F39194C5-2144-4820-9D61-443C245BFA4A}"/>
              </a:ext>
            </a:extLst>
            <ns2:hlinkClick xmlns:ns2="http://schemas.openxmlformats.org/drawingml/2006/main" xmlns:ns3="http://schemas.openxmlformats.org/officeDocument/2006/relationships" ns3:id="rIdNavigation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Sala de aula e modelos 3D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C6DD4BC8-2100-48F2-97A9-D82A2953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goto-10-13">
            <a:extLst xmlns:a="http://schemas.openxmlformats.org/drawingml/2006/main">
              <a:ext uri="{FF2B5EF4-FFF2-40B4-BE49-F238E27FC236}">
                <a16:creationId xmlns:a16="http://schemas.microsoft.com/office/drawing/2014/main" id="{F26317D4-BD6B-4B44-B20F-51D84E7912AB}"/>
              </a:ext>
            </a:extLst>
            <ns4:hlinkClick xmlns:ns4="http://schemas.openxmlformats.org/drawingml/2006/main" xmlns:ns5="http://schemas.openxmlformats.org/officeDocument/2006/relationships" ns5:id="rIdNavigation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0522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Coordenação e resultados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6D5BCF4A-B84C-4FEF-B7B7-6C490161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goto-13-15">
            <a:extLst xmlns:a="http://schemas.openxmlformats.org/drawingml/2006/main">
              <a:ext uri="{FF2B5EF4-FFF2-40B4-BE49-F238E27FC236}">
                <a16:creationId xmlns:a16="http://schemas.microsoft.com/office/drawing/2014/main" id="{7009E164-0C85-4552-95D3-C6314F9AA8FA}"/>
              </a:ext>
            </a:extLst>
            <ns6:hlinkClick xmlns:ns6="http://schemas.openxmlformats.org/drawingml/2006/main" xmlns:ns7="http://schemas.openxmlformats.org/officeDocument/2006/relationships" ns7:id="rIdNavigation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Proposta de piloto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3AFF1966-A829-430D-9941-35E0AF37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149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goto-14-17">
            <a:extLst xmlns:a="http://schemas.openxmlformats.org/drawingml/2006/main">
              <a:ext uri="{FF2B5EF4-FFF2-40B4-BE49-F238E27FC236}">
                <a16:creationId xmlns:a16="http://schemas.microsoft.com/office/drawing/2014/main" id="{CE4EA5F8-11E2-405A-A7F5-A4E3646C7D4D}"/>
              </a:ext>
            </a:extLst>
            <ns8:hlinkClick xmlns:ns8="http://schemas.openxmlformats.org/drawingml/2006/main" xmlns:ns9="http://schemas.openxmlformats.org/officeDocument/2006/relationships" ns9:id="rIdNavigation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Roteiro de demonstração</a:t>
            </a:r>
          </a:p>
        </p:txBody>
      </p:sp>
      <p:sp>
        <p:nvSpPr>
          <p:cNvPr id="13" name="goto-2-120">
            <a:extLst xmlns:a="http://schemas.openxmlformats.org/drawingml/2006/main">
              <a:ext uri="{FF2B5EF4-FFF2-40B4-BE49-F238E27FC236}">
                <a16:creationId xmlns:a16="http://schemas.microsoft.com/office/drawing/2014/main" id="{0F08A60F-247B-461E-A55B-B5AD58AD658A}"/>
              </a:ext>
            </a:extLst>
            <ns10:hlinkClick xmlns:ns10="http://schemas.openxmlformats.org/drawingml/2006/main" xmlns:ns11="http://schemas.openxmlformats.org/officeDocument/2006/relationships" ns11:id="rIdNavigation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14" name="goto-3-121">
            <a:extLst xmlns:a="http://schemas.openxmlformats.org/drawingml/2006/main">
              <a:ext uri="{FF2B5EF4-FFF2-40B4-BE49-F238E27FC236}">
                <a16:creationId xmlns:a16="http://schemas.microsoft.com/office/drawing/2014/main" id="{BB048434-5EAB-4235-9AA0-5CE3842D667E}"/>
              </a:ext>
            </a:extLst>
            <ns12:hlinkClick xmlns:ns12="http://schemas.openxmlformats.org/drawingml/2006/main" xmlns:ns13="http://schemas.openxmlformats.org/officeDocument/2006/relationships" ns13:id="rIdNavigation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11495783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8">
            <a:extLst xmlns:a="http://schemas.openxmlformats.org/drawingml/2006/main">
              <a:ext uri="{FF2B5EF4-FFF2-40B4-BE49-F238E27FC236}">
                <a16:creationId xmlns:a16="http://schemas.microsoft.com/office/drawing/2014/main" id="{EB5899AD-9420-4A4A-B21C-4695CA20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Um ambiente para o Ensino Médio</a:t>
            </a:r>
          </a:p>
        </p:txBody>
      </p:sp>
      <p:sp>
        <p:nvSpPr>
          <p:cNvPr id="2" name="text-19">
            <a:extLst xmlns:a="http://schemas.openxmlformats.org/drawingml/2006/main">
              <a:ext uri="{FF2B5EF4-FFF2-40B4-BE49-F238E27FC236}">
                <a16:creationId xmlns:a16="http://schemas.microsoft.com/office/drawing/2014/main" id="{295E2313-A0AB-4D29-8452-9D095CF0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ALUNO</a:t>
            </a:r>
          </a:p>
        </p:txBody>
      </p:sp>
      <p:sp>
        <p:nvSpPr>
          <p:cNvPr id="3" name="text-20">
            <a:extLst xmlns:a="http://schemas.openxmlformats.org/drawingml/2006/main">
              <a:ext uri="{FF2B5EF4-FFF2-40B4-BE49-F238E27FC236}">
                <a16:creationId xmlns:a16="http://schemas.microsoft.com/office/drawing/2014/main" id="{41C3581A-28E0-40EF-9117-19E74A47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Estudo organizado</a:t>
            </a:r>
          </a:p>
        </p:txBody>
      </p:sp>
      <p:sp>
        <p:nvSpPr>
          <p:cNvPr id="4" name="text-21">
            <a:extLst xmlns:a="http://schemas.openxmlformats.org/drawingml/2006/main">
              <a:ext uri="{FF2B5EF4-FFF2-40B4-BE49-F238E27FC236}">
                <a16:creationId xmlns:a16="http://schemas.microsoft.com/office/drawing/2014/main" id="{D71D2EEF-4F3E-4A00-8521-4E945902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3286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Escolhe matéria e turma, pratica e revisa os próprios erros.</a:t>
            </a:r>
          </a:p>
        </p:txBody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FC8B6BEB-A04E-4EB9-A75B-0209249B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PROFESSOR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1C91D596-DABF-4639-B0A7-F205E32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6697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Conteúdo em perspectiva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B639EEBB-DD17-4327-A21A-C5B2A7D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43275"/>
            <a:ext cx="3286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Apresenta estruturas e movimentos com modelos 3D e roteiro.</a:t>
            </a:r>
          </a:p>
        </p:txBody>
      </p:sp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8F5C01F4-B8F3-4B9C-967A-FF73FDFB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62150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COORDENAÇÃO</a:t>
            </a:r>
          </a:p>
        </p:txBody>
      </p:sp>
      <p:sp>
        <p:nvSpPr>
          <p:cNvPr id="9" name="text-26">
            <a:extLst xmlns:a="http://schemas.openxmlformats.org/drawingml/2006/main">
              <a:ext uri="{FF2B5EF4-FFF2-40B4-BE49-F238E27FC236}">
                <a16:creationId xmlns:a16="http://schemas.microsoft.com/office/drawing/2014/main" id="{84C5E5DA-22AF-4BB7-8A2B-427B5622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Participação acompanhada</a:t>
            </a:r>
          </a:p>
        </p:txBody>
      </p:sp>
      <p:sp>
        <p:nvSpPr>
          <p:cNvPr id="10" name="text-27">
            <a:extLst xmlns:a="http://schemas.openxmlformats.org/drawingml/2006/main">
              <a:ext uri="{FF2B5EF4-FFF2-40B4-BE49-F238E27FC236}">
                <a16:creationId xmlns:a16="http://schemas.microsoft.com/office/drawing/2014/main" id="{D62FFF9D-CC9D-4460-A976-FC0DFD87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43275"/>
            <a:ext cx="3286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Publica eventos, analisa resgates e exporta resultados.</a:t>
            </a:r>
          </a:p>
        </p:txBody>
      </p:sp>
      <p:sp>
        <p:nvSpPr>
          <p:cNvPr id="11" name="text-28">
            <a:extLst xmlns:a="http://schemas.openxmlformats.org/drawingml/2006/main">
              <a:ext uri="{FF2B5EF4-FFF2-40B4-BE49-F238E27FC236}">
                <a16:creationId xmlns:a16="http://schemas.microsoft.com/office/drawing/2014/main" id="{D26194E9-E10B-4B75-A70E-F9AEF259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9110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A sequência de conteúdos será alinhada ao planejamento do Externato e ao material Poliedro adotado.</a:t>
            </a:r>
          </a:p>
        </p:txBody>
      </p:sp>
      <p:sp>
        <p:nvSpPr>
          <p:cNvPr id="12" name="goto-2-122">
            <a:extLst xmlns:a="http://schemas.openxmlformats.org/drawingml/2006/main">
              <a:ext uri="{FF2B5EF4-FFF2-40B4-BE49-F238E27FC236}">
                <a16:creationId xmlns:a16="http://schemas.microsoft.com/office/drawing/2014/main" id="{AF648538-ADA6-42D9-93AA-E810F01D96AA}"/>
              </a:ext>
            </a:extLst>
            <ns0:hlinkClick xmlns:ns0="http://schemas.openxmlformats.org/drawingml/2006/main" xmlns:ns1="http://schemas.openxmlformats.org/officeDocument/2006/relationships" ns1:id="rIdNavigation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13" name="goto-4-123">
            <a:extLst xmlns:a="http://schemas.openxmlformats.org/drawingml/2006/main">
              <a:ext uri="{FF2B5EF4-FFF2-40B4-BE49-F238E27FC236}">
                <a16:creationId xmlns:a16="http://schemas.microsoft.com/office/drawing/2014/main" id="{8F85FECB-57A1-4D3B-BA8A-CF24AE5C75D0}"/>
              </a:ext>
            </a:extLst>
            <ns2:hlinkClick xmlns:ns2="http://schemas.openxmlformats.org/drawingml/2006/main" xmlns:ns3="http://schemas.openxmlformats.org/officeDocument/2006/relationships" ns3:id="rIdNavigation1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2091934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9">
            <a:extLst xmlns:a="http://schemas.openxmlformats.org/drawingml/2006/main">
              <a:ext uri="{FF2B5EF4-FFF2-40B4-BE49-F238E27FC236}">
                <a16:creationId xmlns:a16="http://schemas.microsoft.com/office/drawing/2014/main" id="{50A293B6-2BA9-4B46-8FC4-4A6FF9DE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Estudo por matéria e turma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00265C75-6B56-4752-851D-31D45226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3" name="text-31">
            <a:extLst xmlns:a="http://schemas.openxmlformats.org/drawingml/2006/main">
              <a:ext uri="{FF2B5EF4-FFF2-40B4-BE49-F238E27FC236}">
                <a16:creationId xmlns:a16="http://schemas.microsoft.com/office/drawing/2014/main" id="{8402D03E-6C15-4A0A-A637-54F4AFBB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908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conteúdos na amostra</a:t>
            </a:r>
          </a:p>
        </p:txBody>
      </p:sp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D5F7C379-EF00-40B9-8DD4-162983D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66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907A6F14-B9E3-43CD-AF87-42A73BBF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908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flashcards para revisar</a:t>
            </a:r>
          </a:p>
        </p:txBody>
      </p:sp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7C5A62FC-B6BE-459C-919F-EC71BEC5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6690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7" name="text-35">
            <a:extLst xmlns:a="http://schemas.openxmlformats.org/drawingml/2006/main">
              <a:ext uri="{FF2B5EF4-FFF2-40B4-BE49-F238E27FC236}">
                <a16:creationId xmlns:a16="http://schemas.microsoft.com/office/drawing/2014/main" id="{030F04FB-7F93-40AE-82AE-0C284CB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90825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questões comentadas</a:t>
            </a:r>
          </a:p>
        </p:txBody>
      </p:sp>
      <p:sp>
        <p:nvSpPr>
          <p:cNvPr id="8" name="text-36">
            <a:extLst xmlns:a="http://schemas.openxmlformats.org/drawingml/2006/main">
              <a:ext uri="{FF2B5EF4-FFF2-40B4-BE49-F238E27FC236}">
                <a16:creationId xmlns:a16="http://schemas.microsoft.com/office/drawing/2014/main" id="{CC27295A-B021-4B0B-9346-BF1B97C9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719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Filtros por turma, matéria e conteúdo</a:t>
            </a:r>
          </a:p>
        </p:txBody>
      </p:sp>
      <p:sp>
        <p:nvSpPr>
          <p:cNvPr id="9" name="text-37">
            <a:extLst xmlns:a="http://schemas.openxmlformats.org/drawingml/2006/main">
              <a:ext uri="{FF2B5EF4-FFF2-40B4-BE49-F238E27FC236}">
                <a16:creationId xmlns:a16="http://schemas.microsoft.com/office/drawing/2014/main" id="{5A26DE02-AA36-4A94-934D-B691B27E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10858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Prática comentada, simulado cronometrado e caderno de erros.</a:t>
            </a:r>
          </a:p>
          <a:p xmlns:a="http://schemas.openxmlformats.org/drawingml/2006/main">
            <a:pPr>
              <a:defRPr sz="202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A revisão dos flashcards volta conforme a lembrança do aluno.</a:t>
            </a:r>
          </a:p>
        </p:txBody>
      </p:sp>
      <p:sp>
        <p:nvSpPr>
          <p:cNvPr id="10" name="goto-5-38">
            <a:extLst xmlns:a="http://schemas.openxmlformats.org/drawingml/2006/main">
              <a:ext uri="{FF2B5EF4-FFF2-40B4-BE49-F238E27FC236}">
                <a16:creationId xmlns:a16="http://schemas.microsoft.com/office/drawing/2014/main" id="{353AAE84-421F-413C-9E22-5FD5D22868A1}"/>
              </a:ext>
            </a:extLst>
            <ns0:hlinkClick xmlns:ns0="http://schemas.openxmlformats.org/drawingml/2006/main" xmlns:ns1="http://schemas.openxmlformats.org/officeDocument/2006/relationships" ns1:id="rIdNavigation1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02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Experimentar uma questão</a:t>
            </a:r>
          </a:p>
        </p:txBody>
      </p:sp>
      <p:sp>
        <p:nvSpPr>
          <p:cNvPr id="11" name="goto-2-124">
            <a:extLst xmlns:a="http://schemas.openxmlformats.org/drawingml/2006/main">
              <a:ext uri="{FF2B5EF4-FFF2-40B4-BE49-F238E27FC236}">
                <a16:creationId xmlns:a16="http://schemas.microsoft.com/office/drawing/2014/main" id="{F2EBF2F5-1B67-4C7E-8F2A-CD6FAA4B0706}"/>
              </a:ext>
            </a:extLst>
            <ns2:hlinkClick xmlns:ns2="http://schemas.openxmlformats.org/drawingml/2006/main" xmlns:ns3="http://schemas.openxmlformats.org/officeDocument/2006/relationships" ns3:id="rIdNavigation1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12" name="goto-5-125">
            <a:extLst xmlns:a="http://schemas.openxmlformats.org/drawingml/2006/main">
              <a:ext uri="{FF2B5EF4-FFF2-40B4-BE49-F238E27FC236}">
                <a16:creationId xmlns:a16="http://schemas.microsoft.com/office/drawing/2014/main" id="{83F99D66-D4F6-4ED6-B6FB-A88E8E926551}"/>
              </a:ext>
            </a:extLst>
            <ns4:hlinkClick xmlns:ns4="http://schemas.openxmlformats.org/drawingml/2006/main" xmlns:ns5="http://schemas.openxmlformats.org/officeDocument/2006/relationships" ns5:id="rIdNavigation1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1568574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39">
            <a:extLst xmlns:a="http://schemas.openxmlformats.org/drawingml/2006/main">
              <a:ext uri="{FF2B5EF4-FFF2-40B4-BE49-F238E27FC236}">
                <a16:creationId xmlns:a16="http://schemas.microsoft.com/office/drawing/2014/main" id="{C2A8F717-8A2F-4A3C-9F33-ABAD3A18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descoberta com a Evy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C11E6396-5BC6-4D62-B695-0B11B0D9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CE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E20"/>
                </a:solidFill>
                <a:latin typeface="Arial"/>
                <a:ea typeface="Arial"/>
                <a:cs typeface="Arial"/>
              </a:rPr>
              <a:t>BIOLOGIA</a:t>
            </a:r>
          </a:p>
        </p:txBody>
      </p:sp>
      <p:sp>
        <p:nvSpPr>
          <p:cNvPr id="3" name="text-41">
            <a:extLst xmlns:a="http://schemas.openxmlformats.org/drawingml/2006/main">
              <a:ext uri="{FF2B5EF4-FFF2-40B4-BE49-F238E27FC236}">
                <a16:creationId xmlns:a16="http://schemas.microsoft.com/office/drawing/2014/main" id="{B6A8477B-C594-4FC6-B5B8-35A196BB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 organela produz a maior parte do ATP</a:t>
            </a:r>
          </a:p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 respiração aeróbia de uma célula eucariótica?</a:t>
            </a:r>
          </a:p>
        </p:txBody>
      </p:sp>
      <p:sp>
        <p:nvSpPr>
          <p:cNvPr id="4" name="goto-7-42">
            <a:extLst xmlns:a="http://schemas.openxmlformats.org/drawingml/2006/main">
              <a:ext uri="{FF2B5EF4-FFF2-40B4-BE49-F238E27FC236}">
                <a16:creationId xmlns:a16="http://schemas.microsoft.com/office/drawing/2014/main" id="{39F74421-06A6-452D-940F-D513DFA86269}"/>
              </a:ext>
            </a:extLst>
            <ns0:hlinkClick xmlns:ns0="http://schemas.openxmlformats.org/drawingml/2006/main" xmlns:ns1="http://schemas.openxmlformats.org/officeDocument/2006/relationships" ns1:id="rIdNavigation1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338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  Ribossomo</a:t>
            </a:r>
          </a:p>
        </p:txBody>
      </p:sp>
      <p:sp>
        <p:nvSpPr>
          <p:cNvPr id="5" name="goto-6-43">
            <a:extLst xmlns:a="http://schemas.openxmlformats.org/drawingml/2006/main">
              <a:ext uri="{FF2B5EF4-FFF2-40B4-BE49-F238E27FC236}">
                <a16:creationId xmlns:a16="http://schemas.microsoft.com/office/drawing/2014/main" id="{A0778E57-326D-426A-AE6B-1C95554A0FF2}"/>
              </a:ext>
            </a:extLst>
            <ns2:hlinkClick xmlns:ns2="http://schemas.openxmlformats.org/drawingml/2006/main" xmlns:ns3="http://schemas.openxmlformats.org/officeDocument/2006/relationships" ns3:id="rIdNavigation1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52925"/>
            <a:ext cx="338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   Mitocôndria</a:t>
            </a:r>
          </a:p>
        </p:txBody>
      </p:sp>
      <p:sp>
        <p:nvSpPr>
          <p:cNvPr id="6" name="goto-7-44">
            <a:extLst xmlns:a="http://schemas.openxmlformats.org/drawingml/2006/main">
              <a:ext uri="{FF2B5EF4-FFF2-40B4-BE49-F238E27FC236}">
                <a16:creationId xmlns:a16="http://schemas.microsoft.com/office/drawing/2014/main" id="{9C599110-6A14-4173-A272-8B9A304590C9}"/>
              </a:ext>
            </a:extLst>
            <ns4:hlinkClick xmlns:ns4="http://schemas.openxmlformats.org/drawingml/2006/main" xmlns:ns5="http://schemas.openxmlformats.org/officeDocument/2006/relationships" ns5:id="rIdNavigation1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5292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   Complexo golgiense</a:t>
            </a:r>
          </a:p>
        </p:txBody>
      </p:sp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5084DBB8-8FAC-4615-9BFF-EBBB3B2F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4D7EB"/>
                </a:solidFill>
                <a:latin typeface="Arial"/>
                <a:ea typeface="Arial"/>
                <a:cs typeface="Arial"/>
              </a:rPr>
              <a:t>Clique em uma alternativa no modo Apresentação de Slides.</a:t>
            </a:r>
          </a:p>
        </p:txBody>
      </p:sp>
      <p:sp>
        <p:nvSpPr>
          <p:cNvPr id="8" name="goto-2-126">
            <a:extLst xmlns:a="http://schemas.openxmlformats.org/drawingml/2006/main">
              <a:ext uri="{FF2B5EF4-FFF2-40B4-BE49-F238E27FC236}">
                <a16:creationId xmlns:a16="http://schemas.microsoft.com/office/drawing/2014/main" id="{1E32EBB8-E66F-4E44-858A-C129834DF154}"/>
              </a:ext>
            </a:extLst>
            <ns6:hlinkClick xmlns:ns6="http://schemas.openxmlformats.org/drawingml/2006/main" xmlns:ns7="http://schemas.openxmlformats.org/officeDocument/2006/relationships" ns7:id="rIdNavigation1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4D7EB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9" name="goto-6-127">
            <a:extLst xmlns:a="http://schemas.openxmlformats.org/drawingml/2006/main">
              <a:ext uri="{FF2B5EF4-FFF2-40B4-BE49-F238E27FC236}">
                <a16:creationId xmlns:a16="http://schemas.microsoft.com/office/drawing/2014/main" id="{9C426FA9-AEFB-4460-9A25-DD635E07E779}"/>
              </a:ext>
            </a:extLst>
            <ns8:hlinkClick xmlns:ns8="http://schemas.openxmlformats.org/drawingml/2006/main" xmlns:ns9="http://schemas.openxmlformats.org/officeDocument/2006/relationships" ns9:id="rIdNavigation1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4D7EB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17720070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6">
            <a:extLst xmlns:a="http://schemas.openxmlformats.org/drawingml/2006/main">
              <a:ext uri="{FF2B5EF4-FFF2-40B4-BE49-F238E27FC236}">
                <a16:creationId xmlns:a16="http://schemas.microsoft.com/office/drawing/2014/main" id="{CEC4097E-AD61-423C-A541-F944F1A1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Isso mesmo: mitocôndria</a:t>
            </a:r>
          </a:p>
        </p:txBody>
      </p:sp>
      <p:sp>
        <p:nvSpPr>
          <p:cNvPr id="2" name="text-47">
            <a:extLst xmlns:a="http://schemas.openxmlformats.org/drawingml/2006/main">
              <a:ext uri="{FF2B5EF4-FFF2-40B4-BE49-F238E27FC236}">
                <a16:creationId xmlns:a16="http://schemas.microsoft.com/office/drawing/2014/main" id="{8FB9E040-33D8-4319-91BD-A6B8B57C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E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E20"/>
                </a:solidFill>
                <a:latin typeface="Arial"/>
                <a:ea typeface="Arial"/>
                <a:cs typeface="Arial"/>
              </a:rPr>
              <a:t>DESCOBERTA CONCLUÍDA</a:t>
            </a:r>
          </a:p>
        </p:txBody>
      </p:sp>
      <p:sp>
        <p:nvSpPr>
          <p:cNvPr id="3" name="text-48">
            <a:extLst xmlns:a="http://schemas.openxmlformats.org/drawingml/2006/main">
              <a:ext uri="{FF2B5EF4-FFF2-40B4-BE49-F238E27FC236}">
                <a16:creationId xmlns:a16="http://schemas.microsoft.com/office/drawing/2014/main" id="{C7A136DD-77EF-47E1-B731-CEA3F94D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10477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membrana interna da mitocôndria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abriga a fosforilação oxidativa.</a:t>
            </a:r>
          </a:p>
        </p:txBody>
      </p:sp>
      <p:sp>
        <p:nvSpPr>
          <p:cNvPr id="4" name="text-49">
            <a:extLst xmlns:a="http://schemas.openxmlformats.org/drawingml/2006/main">
              <a:ext uri="{FF2B5EF4-FFF2-40B4-BE49-F238E27FC236}">
                <a16:creationId xmlns:a16="http://schemas.microsoft.com/office/drawing/2014/main" id="{030A9431-DB13-498F-9AF1-05294DBE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4D7EB"/>
                </a:solidFill>
                <a:latin typeface="Arial"/>
                <a:ea typeface="Arial"/>
                <a:cs typeface="Arial"/>
              </a:rPr>
              <a:t>No ExternApp, cada resposta vem com uma explicação</a:t>
            </a:r>
          </a:p>
          <a:p xmlns:a="http://schemas.openxmlformats.org/drawingml/2006/main">
            <a:pPr>
              <a:defRPr sz="2175" b="0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4D7EB"/>
                </a:solidFill>
                <a:latin typeface="Arial"/>
                <a:ea typeface="Arial"/>
                <a:cs typeface="Arial"/>
              </a:rPr>
              <a:t>e ajuda o aluno a reconhecer o que precisa revisar.</a:t>
            </a:r>
          </a:p>
        </p:txBody>
      </p:sp>
      <p:sp>
        <p:nvSpPr>
          <p:cNvPr id="5" name="goto-8-50">
            <a:extLst xmlns:a="http://schemas.openxmlformats.org/drawingml/2006/main">
              <a:ext uri="{FF2B5EF4-FFF2-40B4-BE49-F238E27FC236}">
                <a16:creationId xmlns:a16="http://schemas.microsoft.com/office/drawing/2014/main" id="{38D7EB52-1CAC-4242-936B-724BA17C49F2}"/>
              </a:ext>
            </a:extLst>
            <ns0:hlinkClick xmlns:ns0="http://schemas.openxmlformats.org/drawingml/2006/main" xmlns:ns1="http://schemas.openxmlformats.org/officeDocument/2006/relationships" ns1:id="rIdNavigation1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E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CE20"/>
                </a:solidFill>
                <a:latin typeface="Arial"/>
                <a:ea typeface="Arial"/>
                <a:cs typeface="Arial"/>
              </a:rPr>
              <a:t>Conhecer o laboratório do professor</a:t>
            </a:r>
          </a:p>
        </p:txBody>
      </p:sp>
      <p:sp>
        <p:nvSpPr>
          <p:cNvPr id="6" name="goto-2-128">
            <a:extLst xmlns:a="http://schemas.openxmlformats.org/drawingml/2006/main">
              <a:ext uri="{FF2B5EF4-FFF2-40B4-BE49-F238E27FC236}">
                <a16:creationId xmlns:a16="http://schemas.microsoft.com/office/drawing/2014/main" id="{490ECA4C-9A76-4AC1-B55B-CC0AEBFEBBB9}"/>
              </a:ext>
            </a:extLst>
            <ns2:hlinkClick xmlns:ns2="http://schemas.openxmlformats.org/drawingml/2006/main" xmlns:ns3="http://schemas.openxmlformats.org/officeDocument/2006/relationships" ns3:id="rIdNavigation2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4D7EB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</p:spTree>
    <p:extLst>
      <p:ext uri="{BB962C8B-B14F-4D97-AF65-F5344CB8AC3E}">
        <p14:creationId xmlns:p14="http://schemas.microsoft.com/office/powerpoint/2010/main" val="856624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1">
            <a:extLst xmlns:a="http://schemas.openxmlformats.org/drawingml/2006/main">
              <a:ext uri="{FF2B5EF4-FFF2-40B4-BE49-F238E27FC236}">
                <a16:creationId xmlns:a16="http://schemas.microsoft.com/office/drawing/2014/main" id="{9E69FAAD-F7EE-4AEB-A1AC-E976CA36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Vamos investigar mais um pouco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10CAE89A-0DB8-425B-A1F1-3ADAECC6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A pista está na respiração celular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D6182397-B464-45CB-A3F7-942EF90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10477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Procure a organela relacionada à fosforilação oxidativa.</a:t>
            </a:r>
          </a:p>
          <a:p xmlns:a="http://schemas.openxmlformats.org/drawingml/2006/main">
            <a:pPr>
              <a:defRPr sz="240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Errar abre uma oportunidade de revisar o conceito.</a:t>
            </a:r>
          </a:p>
        </p:txBody>
      </p:sp>
      <p:sp>
        <p:nvSpPr>
          <p:cNvPr id="4" name="goto-5-54">
            <a:extLst xmlns:a="http://schemas.openxmlformats.org/drawingml/2006/main">
              <a:ext uri="{FF2B5EF4-FFF2-40B4-BE49-F238E27FC236}">
                <a16:creationId xmlns:a16="http://schemas.microsoft.com/office/drawing/2014/main" id="{AB331724-9B18-4725-8D30-791BF4D88C1D}"/>
              </a:ext>
            </a:extLst>
            <ns0:hlinkClick xmlns:ns0="http://schemas.openxmlformats.org/drawingml/2006/main" xmlns:ns1="http://schemas.openxmlformats.org/officeDocument/2006/relationships" ns1:id="rIdNavigation2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Tentar novamente</a:t>
            </a:r>
          </a:p>
        </p:txBody>
      </p:sp>
      <p:sp>
        <p:nvSpPr>
          <p:cNvPr id="5" name="goto-6-55">
            <a:extLst xmlns:a="http://schemas.openxmlformats.org/drawingml/2006/main">
              <a:ext uri="{FF2B5EF4-FFF2-40B4-BE49-F238E27FC236}">
                <a16:creationId xmlns:a16="http://schemas.microsoft.com/office/drawing/2014/main" id="{A45D191E-35B1-4A7B-B88E-DD7A298AAA87}"/>
              </a:ext>
            </a:extLst>
            <ns2:hlinkClick xmlns:ns2="http://schemas.openxmlformats.org/drawingml/2006/main" xmlns:ns3="http://schemas.openxmlformats.org/officeDocument/2006/relationships" ns3:id="rIdNavigation2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Ver explicação</a:t>
            </a:r>
          </a:p>
        </p:txBody>
      </p:sp>
      <p:sp>
        <p:nvSpPr>
          <p:cNvPr id="6" name="goto-2-129">
            <a:extLst xmlns:a="http://schemas.openxmlformats.org/drawingml/2006/main">
              <a:ext uri="{FF2B5EF4-FFF2-40B4-BE49-F238E27FC236}">
                <a16:creationId xmlns:a16="http://schemas.microsoft.com/office/drawing/2014/main" id="{88A77299-858C-488B-91F5-07D87DAC4A3B}"/>
              </a:ext>
            </a:extLst>
            <ns4:hlinkClick xmlns:ns4="http://schemas.openxmlformats.org/drawingml/2006/main" xmlns:ns5="http://schemas.openxmlformats.org/officeDocument/2006/relationships" ns5:id="rIdNavigation2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</p:spTree>
    <p:extLst>
      <p:ext uri="{BB962C8B-B14F-4D97-AF65-F5344CB8AC3E}">
        <p14:creationId xmlns:p14="http://schemas.microsoft.com/office/powerpoint/2010/main" val="650320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56">
            <a:extLst xmlns:a="http://schemas.openxmlformats.org/drawingml/2006/main">
              <a:ext uri="{FF2B5EF4-FFF2-40B4-BE49-F238E27FC236}">
                <a16:creationId xmlns:a16="http://schemas.microsoft.com/office/drawing/2014/main" id="{F3811140-5FA6-45B1-8A1D-1D238DE0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Modelos 3D para apresentar em sala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051d4b87a4d2b"/>
          <a:stretch xmlns:a="http://schemas.openxmlformats.org/drawingml/2006/main"/>
        </p:blipFill>
        <p:spPr>
          <a:xfrm xmlns:a="http://schemas.openxmlformats.org/drawingml/2006/main">
            <a:off x="4286250" y="172640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3" name="text-57">
            <a:extLst xmlns:a="http://schemas.openxmlformats.org/drawingml/2006/main">
              <a:ext uri="{FF2B5EF4-FFF2-40B4-BE49-F238E27FC236}">
                <a16:creationId xmlns:a16="http://schemas.microsoft.com/office/drawing/2014/main" id="{FF6606A9-BBD3-45F6-9F63-F22D3638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3381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8 modelos</a:t>
            </a:r>
          </a:p>
        </p:txBody>
      </p:sp>
      <p:sp>
        <p:nvSpPr>
          <p:cNvPr id="4" name="text-58">
            <a:extLst xmlns:a="http://schemas.openxmlformats.org/drawingml/2006/main">
              <a:ext uri="{FF2B5EF4-FFF2-40B4-BE49-F238E27FC236}">
                <a16:creationId xmlns:a16="http://schemas.microsoft.com/office/drawing/2014/main" id="{0E63287F-13B8-4A7B-8A15-F7B526D4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Forma, espaço</a:t>
            </a:r>
          </a:p>
          <a:p xmlns:a="http://schemas.openxmlformats.org/drawingml/2006/main">
            <a:pPr>
              <a:defRPr sz="25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e movimento</a:t>
            </a:r>
          </a:p>
        </p:txBody>
      </p:sp>
      <p:sp>
        <p:nvSpPr>
          <p:cNvPr id="5" name="text-59">
            <a:extLst xmlns:a="http://schemas.openxmlformats.org/drawingml/2006/main">
              <a:ext uri="{FF2B5EF4-FFF2-40B4-BE49-F238E27FC236}">
                <a16:creationId xmlns:a16="http://schemas.microsoft.com/office/drawing/2014/main" id="{3478A32E-63E4-4EEE-A90D-18C1FDAF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33813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Rotação e zoom</a:t>
            </a:r>
          </a:p>
          <a:p xmlns:a="http://schemas.openxmlformats.org/drawingml/2006/main">
            <a:pPr>
              <a:defRPr sz="195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Roteiros de aula</a:t>
            </a:r>
          </a:p>
          <a:p xmlns:a="http://schemas.openxmlformats.org/drawingml/2006/main">
            <a:pPr>
              <a:defRPr sz="195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Por matéria e conteúdo</a:t>
            </a:r>
          </a:p>
        </p:txBody>
      </p:sp>
      <p:sp>
        <p:nvSpPr>
          <p:cNvPr id="6" name="text-60">
            <a:extLst xmlns:a="http://schemas.openxmlformats.org/drawingml/2006/main">
              <a:ext uri="{FF2B5EF4-FFF2-40B4-BE49-F238E27FC236}">
                <a16:creationId xmlns:a16="http://schemas.microsoft.com/office/drawing/2014/main" id="{BEA78AF7-D896-4F24-B7B0-B7599356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Matemática • Física • Química • Biologia • Geografia</a:t>
            </a:r>
          </a:p>
        </p:txBody>
      </p:sp>
      <p:sp>
        <p:nvSpPr>
          <p:cNvPr id="7" name="goto-2-130">
            <a:extLst xmlns:a="http://schemas.openxmlformats.org/drawingml/2006/main">
              <a:ext uri="{FF2B5EF4-FFF2-40B4-BE49-F238E27FC236}">
                <a16:creationId xmlns:a16="http://schemas.microsoft.com/office/drawing/2014/main" id="{966E7C2C-597C-4AB8-AB68-5F7F2ECC3D9A}"/>
              </a:ext>
            </a:extLst>
            <ns0:hlinkClick xmlns:ns0="http://schemas.openxmlformats.org/drawingml/2006/main" xmlns:ns1="http://schemas.openxmlformats.org/officeDocument/2006/relationships" ns1:id="rIdNavigation2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8" name="goto-9-131">
            <a:extLst xmlns:a="http://schemas.openxmlformats.org/drawingml/2006/main">
              <a:ext uri="{FF2B5EF4-FFF2-40B4-BE49-F238E27FC236}">
                <a16:creationId xmlns:a16="http://schemas.microsoft.com/office/drawing/2014/main" id="{78FF7E56-96B3-4FB0-A503-1822C3FAC1B1}"/>
              </a:ext>
            </a:extLst>
            <ns2:hlinkClick xmlns:ns2="http://schemas.openxmlformats.org/drawingml/2006/main" xmlns:ns3="http://schemas.openxmlformats.org/officeDocument/2006/relationships" ns3:id="rIdNavigation2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546511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61">
            <a:extLst xmlns:a="http://schemas.openxmlformats.org/drawingml/2006/main">
              <a:ext uri="{FF2B5EF4-FFF2-40B4-BE49-F238E27FC236}">
                <a16:creationId xmlns:a16="http://schemas.microsoft.com/office/drawing/2014/main" id="{BD5D4410-16DD-4D60-8FE3-3ABF5AF9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A participação pode render pontos</a:t>
            </a:r>
          </a:p>
        </p:txBody>
      </p:sp>
      <p:sp>
        <p:nvSpPr>
          <p:cNvPr id="2" name="text-62">
            <a:extLst xmlns:a="http://schemas.openxmlformats.org/drawingml/2006/main">
              <a:ext uri="{FF2B5EF4-FFF2-40B4-BE49-F238E27FC236}">
                <a16:creationId xmlns:a16="http://schemas.microsoft.com/office/drawing/2014/main" id="{A4577D4B-2BE0-4D31-8C36-01E8AA2F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-63">
            <a:extLst xmlns:a="http://schemas.openxmlformats.org/drawingml/2006/main">
              <a:ext uri="{FF2B5EF4-FFF2-40B4-BE49-F238E27FC236}">
                <a16:creationId xmlns:a16="http://schemas.microsoft.com/office/drawing/2014/main" id="{7031E5F2-DBC3-414A-9D6C-42B73C1F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Liberação</a:t>
            </a:r>
          </a:p>
        </p:txBody>
      </p:sp>
      <p:sp>
        <p:nvSpPr>
          <p:cNvPr id="4" name="text-64">
            <a:extLst xmlns:a="http://schemas.openxmlformats.org/drawingml/2006/main">
              <a:ext uri="{FF2B5EF4-FFF2-40B4-BE49-F238E27FC236}">
                <a16:creationId xmlns:a16="http://schemas.microsoft.com/office/drawing/2014/main" id="{4DFF26E7-3E8A-43C6-9FC7-F7472AD7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2524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A coordenação publica a atividade e define os pontos.</a:t>
            </a:r>
          </a:p>
        </p:txBody>
      </p:sp>
      <p:sp>
        <p:nvSpPr>
          <p:cNvPr id="5" name="text-65">
            <a:extLst xmlns:a="http://schemas.openxmlformats.org/drawingml/2006/main">
              <a:ext uri="{FF2B5EF4-FFF2-40B4-BE49-F238E27FC236}">
                <a16:creationId xmlns:a16="http://schemas.microsoft.com/office/drawing/2014/main" id="{C6F8337D-B21B-47BC-AC06-B3A4A2C1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621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66">
            <a:extLst xmlns:a="http://schemas.openxmlformats.org/drawingml/2006/main">
              <a:ext uri="{FF2B5EF4-FFF2-40B4-BE49-F238E27FC236}">
                <a16:creationId xmlns:a16="http://schemas.microsoft.com/office/drawing/2014/main" id="{44F524F8-33C3-4FBC-B35C-622B2BDD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Solicitação</a:t>
            </a:r>
          </a:p>
        </p:txBody>
      </p:sp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348D8492-D490-49FA-9D15-8E2042A4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43275"/>
            <a:ext cx="2524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O aluno pede o resgate após participar.</a:t>
            </a:r>
          </a:p>
        </p:txBody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D3738517-442C-499E-8B01-16AA12C8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621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A922FA1E-455D-458F-B46C-FA072EC0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669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Conferência</a:t>
            </a:r>
          </a:p>
        </p:txBody>
      </p:sp>
      <p:sp>
        <p:nvSpPr>
          <p:cNvPr id="10" name="text-70">
            <a:extLst xmlns:a="http://schemas.openxmlformats.org/drawingml/2006/main">
              <a:ext uri="{FF2B5EF4-FFF2-40B4-BE49-F238E27FC236}">
                <a16:creationId xmlns:a16="http://schemas.microsoft.com/office/drawing/2014/main" id="{DAA0FEE2-11F9-4144-B68F-5E25FD16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43275"/>
            <a:ext cx="2524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A coordenação aprova ou devolve o pedido.</a:t>
            </a:r>
          </a:p>
        </p:txBody>
      </p:sp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32423713-994D-4D5D-AD1D-726DC907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621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text-72">
            <a:extLst xmlns:a="http://schemas.openxmlformats.org/drawingml/2006/main">
              <a:ext uri="{FF2B5EF4-FFF2-40B4-BE49-F238E27FC236}">
                <a16:creationId xmlns:a16="http://schemas.microsoft.com/office/drawing/2014/main" id="{B3B04FB6-A9F2-450E-AEE2-E6CC9C04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Registro</a:t>
            </a:r>
          </a:p>
        </p:txBody>
      </p:sp>
      <p:sp>
        <p:nvSpPr>
          <p:cNvPr id="13" name="text-73">
            <a:extLst xmlns:a="http://schemas.openxmlformats.org/drawingml/2006/main">
              <a:ext uri="{FF2B5EF4-FFF2-40B4-BE49-F238E27FC236}">
                <a16:creationId xmlns:a16="http://schemas.microsoft.com/office/drawing/2014/main" id="{9A3BACF1-12E6-40A4-AE89-42DC7BFC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43275"/>
            <a:ext cx="2524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O resultado aprovado entra no histórico da prévia.</a:t>
            </a:r>
          </a:p>
        </p:txBody>
      </p:sp>
      <p:sp>
        <p:nvSpPr>
          <p:cNvPr id="14" name="text-74">
            <a:extLst xmlns:a="http://schemas.openxmlformats.org/drawingml/2006/main">
              <a:ext uri="{FF2B5EF4-FFF2-40B4-BE49-F238E27FC236}">
                <a16:creationId xmlns:a16="http://schemas.microsoft.com/office/drawing/2014/main" id="{77B39742-84DE-4993-8C7C-070503CB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Exemplos: participação em simulado ou na Festa Junina.</a:t>
            </a:r>
          </a:p>
        </p:txBody>
      </p:sp>
      <p:sp>
        <p:nvSpPr>
          <p:cNvPr id="15" name="text-75">
            <a:extLst xmlns:a="http://schemas.openxmlformats.org/drawingml/2006/main">
              <a:ext uri="{FF2B5EF4-FFF2-40B4-BE49-F238E27FC236}">
                <a16:creationId xmlns:a16="http://schemas.microsoft.com/office/drawing/2014/main" id="{7FE30DF2-3498-47E6-A4C9-F277CA8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XP dos jogos e pontos escolares têm registros separados.</a:t>
            </a:r>
          </a:p>
        </p:txBody>
      </p:sp>
      <p:sp>
        <p:nvSpPr>
          <p:cNvPr id="16" name="goto-2-132">
            <a:extLst xmlns:a="http://schemas.openxmlformats.org/drawingml/2006/main">
              <a:ext uri="{FF2B5EF4-FFF2-40B4-BE49-F238E27FC236}">
                <a16:creationId xmlns:a16="http://schemas.microsoft.com/office/drawing/2014/main" id="{683BE1A5-2F28-4DCE-9421-1A86ED689DB4}"/>
              </a:ext>
            </a:extLst>
            <ns0:hlinkClick xmlns:ns0="http://schemas.openxmlformats.org/drawingml/2006/main" xmlns:ns1="http://schemas.openxmlformats.org/officeDocument/2006/relationships" ns1:id="rIdNavigation2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17" name="goto-10-133">
            <a:extLst xmlns:a="http://schemas.openxmlformats.org/drawingml/2006/main">
              <a:ext uri="{FF2B5EF4-FFF2-40B4-BE49-F238E27FC236}">
                <a16:creationId xmlns:a16="http://schemas.microsoft.com/office/drawing/2014/main" id="{C0F9DDBE-C14F-4DEA-AB91-70B8AE319D30}"/>
              </a:ext>
            </a:extLst>
            <ns2:hlinkClick xmlns:ns2="http://schemas.openxmlformats.org/drawingml/2006/main" xmlns:ns3="http://schemas.openxmlformats.org/officeDocument/2006/relationships" ns3:id="rIdNavigation2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115474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6">
            <a:extLst xmlns:a="http://schemas.openxmlformats.org/drawingml/2006/main">
              <a:ext uri="{FF2B5EF4-FFF2-40B4-BE49-F238E27FC236}">
                <a16:creationId xmlns:a16="http://schemas.microsoft.com/office/drawing/2014/main" id="{CA6A973E-2810-4973-B9EE-34630211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Resultados para a coordenação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2CFE328A-A989-4BA3-8A59-6C81B7B1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Pontos escolares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695F5FEB-4024-41D7-B18D-DA6D1601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71775"/>
            <a:ext cx="50482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Aluno e turma</a:t>
            </a:r>
          </a:p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Atividade e disciplina</a:t>
            </a:r>
          </a:p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Valor solicitado e aprovado</a:t>
            </a:r>
          </a:p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Situação e observações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EE37E66E-50F6-46C1-9A82-22CF4A92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500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Resultados de estudo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15A117DD-EB98-439D-BDAF-EE266162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71775"/>
            <a:ext cx="50006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Matérias praticadas</a:t>
            </a:r>
          </a:p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Acertos e total de questões</a:t>
            </a:r>
          </a:p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Percentual de acerto</a:t>
            </a:r>
          </a:p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Data e histórico do treino</a:t>
            </a:r>
          </a:p>
        </p:txBody>
      </p:sp>
      <p:sp>
        <p:nvSpPr>
          <p:cNvPr id="6" name="text-81">
            <a:extLst xmlns:a="http://schemas.openxmlformats.org/drawingml/2006/main">
              <a:ext uri="{FF2B5EF4-FFF2-40B4-BE49-F238E27FC236}">
                <a16:creationId xmlns:a16="http://schemas.microsoft.com/office/drawing/2014/main" id="{D821C8C6-1733-493E-9A34-F3071E7F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Exportação em planilha para análise e acompanhamento.</a:t>
            </a:r>
          </a:p>
        </p:txBody>
      </p:sp>
      <p:sp>
        <p:nvSpPr>
          <p:cNvPr id="7" name="goto-2-134">
            <a:extLst xmlns:a="http://schemas.openxmlformats.org/drawingml/2006/main">
              <a:ext uri="{FF2B5EF4-FFF2-40B4-BE49-F238E27FC236}">
                <a16:creationId xmlns:a16="http://schemas.microsoft.com/office/drawing/2014/main" id="{9C08B48A-0B4D-41E5-8454-C9EE21EEBDD7}"/>
              </a:ext>
            </a:extLst>
            <ns0:hlinkClick xmlns:ns0="http://schemas.openxmlformats.org/drawingml/2006/main" xmlns:ns1="http://schemas.openxmlformats.org/officeDocument/2006/relationships" ns1:id="rIdNavigation2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8" name="goto-11-135">
            <a:extLst xmlns:a="http://schemas.openxmlformats.org/drawingml/2006/main">
              <a:ext uri="{FF2B5EF4-FFF2-40B4-BE49-F238E27FC236}">
                <a16:creationId xmlns:a16="http://schemas.microsoft.com/office/drawing/2014/main" id="{0D8C63C9-3D93-4578-915C-96B4D4FECF52}"/>
              </a:ext>
            </a:extLst>
            <ns2:hlinkClick xmlns:ns2="http://schemas.openxmlformats.org/drawingml/2006/main" xmlns:ns3="http://schemas.openxmlformats.org/officeDocument/2006/relationships" ns3:id="rIdNavigation2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20927459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82">
            <a:extLst xmlns:a="http://schemas.openxmlformats.org/drawingml/2006/main">
              <a:ext uri="{FF2B5EF4-FFF2-40B4-BE49-F238E27FC236}">
                <a16:creationId xmlns:a16="http://schemas.microsoft.com/office/drawing/2014/main" id="{801E4750-9DFE-45C8-BF66-2519CF95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Evy acompanha a jornada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ae48bc98049ef"/>
          <a:stretch xmlns:a="http://schemas.openxmlformats.org/drawingml/2006/main"/>
        </p:blipFill>
        <p:spPr>
          <a:xfrm xmlns:a="http://schemas.openxmlformats.org/drawingml/2006/main">
            <a:off x="6834188" y="1590675"/>
            <a:ext cx="4667250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text-83">
            <a:extLst xmlns:a="http://schemas.openxmlformats.org/drawingml/2006/main">
              <a:ext uri="{FF2B5EF4-FFF2-40B4-BE49-F238E27FC236}">
                <a16:creationId xmlns:a16="http://schemas.microsoft.com/office/drawing/2014/main" id="{DA154AD2-EC83-41C4-9A6D-2797CC48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600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CE20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CE20"/>
                </a:solidFill>
                <a:latin typeface="Arial"/>
                <a:ea typeface="Arial"/>
                <a:cs typeface="Arial"/>
              </a:rPr>
              <a:t>Conheça a Evy.</a:t>
            </a:r>
          </a:p>
        </p:txBody>
      </p:sp>
      <p:sp>
        <p:nvSpPr>
          <p:cNvPr id="4" name="text-84">
            <a:extLst xmlns:a="http://schemas.openxmlformats.org/drawingml/2006/main">
              <a:ext uri="{FF2B5EF4-FFF2-40B4-BE49-F238E27FC236}">
                <a16:creationId xmlns:a16="http://schemas.microsoft.com/office/drawing/2014/main" id="{482BD600-1FB6-4DFA-B1BE-212C592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5953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exploradora que convida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aluno a descobrir mais.</a:t>
            </a:r>
          </a:p>
        </p:txBody>
      </p:sp>
      <p:sp>
        <p:nvSpPr>
          <p:cNvPr id="5" name="text-85">
            <a:extLst xmlns:a="http://schemas.openxmlformats.org/drawingml/2006/main">
              <a:ext uri="{FF2B5EF4-FFF2-40B4-BE49-F238E27FC236}">
                <a16:creationId xmlns:a16="http://schemas.microsoft.com/office/drawing/2014/main" id="{BA5BA734-B866-48BD-A418-273CD699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5905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4D7EB"/>
                </a:solidFill>
                <a:latin typeface="Arial"/>
                <a:ea typeface="Arial"/>
                <a:cs typeface="Arial"/>
              </a:rPr>
              <a:t>Dicas, missões e conquistas.</a:t>
            </a:r>
          </a:p>
          <a:p xmlns:a="http://schemas.openxmlformats.org/drawingml/2006/main">
            <a:pPr>
              <a:defRPr sz="2175" b="0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4D7EB"/>
                </a:solidFill>
                <a:latin typeface="Arial"/>
                <a:ea typeface="Arial"/>
                <a:cs typeface="Arial"/>
              </a:rPr>
              <a:t>Revisão com flashcards.</a:t>
            </a:r>
          </a:p>
          <a:p xmlns:a="http://schemas.openxmlformats.org/drawingml/2006/main">
            <a:pPr>
              <a:defRPr sz="2175" b="0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4D7EB"/>
                </a:solidFill>
                <a:latin typeface="Arial"/>
                <a:ea typeface="Arial"/>
                <a:cs typeface="Arial"/>
              </a:rPr>
              <a:t>Tempo reservado para focar.</a:t>
            </a:r>
          </a:p>
        </p:txBody>
      </p:sp>
      <p:sp>
        <p:nvSpPr>
          <p:cNvPr id="6" name="goto-2-136">
            <a:extLst xmlns:a="http://schemas.openxmlformats.org/drawingml/2006/main">
              <a:ext uri="{FF2B5EF4-FFF2-40B4-BE49-F238E27FC236}">
                <a16:creationId xmlns:a16="http://schemas.microsoft.com/office/drawing/2014/main" id="{AE599761-0A8D-4BBE-AD42-06B3D822A860}"/>
              </a:ext>
            </a:extLst>
            <ns0:hlinkClick xmlns:ns0="http://schemas.openxmlformats.org/drawingml/2006/main" xmlns:ns1="http://schemas.openxmlformats.org/officeDocument/2006/relationships" ns1:id="rIdNavigation3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4D7EB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7" name="goto-12-137">
            <a:extLst xmlns:a="http://schemas.openxmlformats.org/drawingml/2006/main">
              <a:ext uri="{FF2B5EF4-FFF2-40B4-BE49-F238E27FC236}">
                <a16:creationId xmlns:a16="http://schemas.microsoft.com/office/drawing/2014/main" id="{F60ABC3E-C543-4434-8DA0-D4BEABF9354B}"/>
              </a:ext>
            </a:extLst>
            <ns2:hlinkClick xmlns:ns2="http://schemas.openxmlformats.org/drawingml/2006/main" xmlns:ns3="http://schemas.openxmlformats.org/officeDocument/2006/relationships" ns3:id="rIdNavigation3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D7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4D7EB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19335293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86">
            <a:extLst xmlns:a="http://schemas.openxmlformats.org/drawingml/2006/main">
              <a:ext uri="{FF2B5EF4-FFF2-40B4-BE49-F238E27FC236}">
                <a16:creationId xmlns:a16="http://schemas.microsoft.com/office/drawing/2014/main" id="{7731F050-616C-42F5-8275-B2D1CF1C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O que a prévia demonstra</a:t>
            </a: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AFE5C4DE-A4DB-45D4-916D-50826AE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Disponível na demonstração</a:t>
            </a:r>
          </a:p>
        </p:txBody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7764291D-48FA-44FE-9A9C-132E2559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"/>
            <a:ext cx="504825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Estudos e modelos 3D</a:t>
            </a:r>
          </a:p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Agenda e resgate de pontos</a:t>
            </a:r>
          </a:p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Perfis demonstrativos</a:t>
            </a:r>
          </a:p>
          <a:p xmlns:a="http://schemas.openxmlformats.org/drawingml/2006/main">
            <a:pPr>
              <a:defRPr sz="2175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Exportação de resultados</a:t>
            </a:r>
          </a:p>
        </p:txBody>
      </p:sp>
      <p:sp>
        <p:nvSpPr>
          <p:cNvPr id="4" name="text-89">
            <a:extLst xmlns:a="http://schemas.openxmlformats.org/drawingml/2006/main">
              <a:ext uri="{FF2B5EF4-FFF2-40B4-BE49-F238E27FC236}">
                <a16:creationId xmlns:a16="http://schemas.microsoft.com/office/drawing/2014/main" id="{21EFE01C-8E0E-4FDC-9552-192A55C9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1911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Próxima etapa de implementação</a:t>
            </a:r>
          </a:p>
        </p:txBody>
      </p:sp>
      <p:sp>
        <p:nvSpPr>
          <p:cNvPr id="5" name="text-90">
            <a:extLst xmlns:a="http://schemas.openxmlformats.org/drawingml/2006/main">
              <a:ext uri="{FF2B5EF4-FFF2-40B4-BE49-F238E27FC236}">
                <a16:creationId xmlns:a16="http://schemas.microsoft.com/office/drawing/2014/main" id="{C1F1412A-A561-4A09-AAF3-39E97027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5095875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Contas e permissões reais</a:t>
            </a:r>
          </a:p>
          <a:p xmlns:a="http://schemas.openxmlformats.org/drawingml/2006/main">
            <a:pPr>
              <a:defRPr sz="2100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Dados compartilhados entre dispositivos</a:t>
            </a:r>
          </a:p>
          <a:p xmlns:a="http://schemas.openxmlformats.org/drawingml/2006/main">
            <a:pPr>
              <a:defRPr sz="2100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Grade e regras oficiais</a:t>
            </a:r>
          </a:p>
          <a:p xmlns:a="http://schemas.openxmlformats.org/drawingml/2006/main">
            <a:pPr>
              <a:defRPr sz="2100" b="0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C49"/>
                </a:solidFill>
                <a:latin typeface="Arial"/>
                <a:ea typeface="Arial"/>
                <a:cs typeface="Arial"/>
              </a:rPr>
              <a:t>Validação com a equipe pedagógica</a:t>
            </a:r>
          </a:p>
        </p:txBody>
      </p:sp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714D4CF3-6ACA-4B0E-A53C-CD342725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A amostra usa dados fictícios e armazenamento local. Não altera boletins reais.</a:t>
            </a:r>
          </a:p>
        </p:txBody>
      </p:sp>
      <p:sp>
        <p:nvSpPr>
          <p:cNvPr id="7" name="goto-2-138">
            <a:extLst xmlns:a="http://schemas.openxmlformats.org/drawingml/2006/main">
              <a:ext uri="{FF2B5EF4-FFF2-40B4-BE49-F238E27FC236}">
                <a16:creationId xmlns:a16="http://schemas.microsoft.com/office/drawing/2014/main" id="{9372DEF9-A14D-487E-974E-B9635A7C93FA}"/>
              </a:ext>
            </a:extLst>
            <ns0:hlinkClick xmlns:ns0="http://schemas.openxmlformats.org/drawingml/2006/main" xmlns:ns1="http://schemas.openxmlformats.org/officeDocument/2006/relationships" ns1:id="rIdNavigation3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8" name="goto-13-139">
            <a:extLst xmlns:a="http://schemas.openxmlformats.org/drawingml/2006/main">
              <a:ext uri="{FF2B5EF4-FFF2-40B4-BE49-F238E27FC236}">
                <a16:creationId xmlns:a16="http://schemas.microsoft.com/office/drawing/2014/main" id="{3BF92B87-353C-4031-8956-6EAE3B1B3558}"/>
              </a:ext>
            </a:extLst>
            <ns2:hlinkClick xmlns:ns2="http://schemas.openxmlformats.org/drawingml/2006/main" xmlns:ns3="http://schemas.openxmlformats.org/officeDocument/2006/relationships" ns3:id="rIdNavigation3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13557029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2">
            <a:extLst xmlns:a="http://schemas.openxmlformats.org/drawingml/2006/main">
              <a:ext uri="{FF2B5EF4-FFF2-40B4-BE49-F238E27FC236}">
                <a16:creationId xmlns:a16="http://schemas.microsoft.com/office/drawing/2014/main" id="{29B3A463-9281-422A-92F8-B3D3D21B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Proposta: um piloto com a escola</a:t>
            </a:r>
          </a:p>
        </p:txBody>
      </p:sp>
      <p:sp>
        <p:nvSpPr>
          <p:cNvPr id="2" name="text-93">
            <a:extLst xmlns:a="http://schemas.openxmlformats.org/drawingml/2006/main">
              <a:ext uri="{FF2B5EF4-FFF2-40B4-BE49-F238E27FC236}">
                <a16:creationId xmlns:a16="http://schemas.microsoft.com/office/drawing/2014/main" id="{8C6D0B29-B92A-4FE1-B920-FD09F32D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19434A8E-60B2-42DE-BBB1-C8376D3D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Definir o escopo</a:t>
            </a:r>
          </a:p>
        </p:txBody>
      </p:sp>
      <p:sp>
        <p:nvSpPr>
          <p:cNvPr id="4" name="text-95">
            <a:extLst xmlns:a="http://schemas.openxmlformats.org/drawingml/2006/main">
              <a:ext uri="{FF2B5EF4-FFF2-40B4-BE49-F238E27FC236}">
                <a16:creationId xmlns:a16="http://schemas.microsoft.com/office/drawing/2014/main" id="{488F65B2-69D2-4099-BA61-57B598D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3286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Escolher uma turma, conteúdos prioritários e responsáveis pela avaliação.</a:t>
            </a:r>
          </a:p>
        </p:txBody>
      </p:sp>
      <p:sp>
        <p:nvSpPr>
          <p:cNvPr id="5" name="text-96">
            <a:extLst xmlns:a="http://schemas.openxmlformats.org/drawingml/2006/main">
              <a:ext uri="{FF2B5EF4-FFF2-40B4-BE49-F238E27FC236}">
                <a16:creationId xmlns:a16="http://schemas.microsoft.com/office/drawing/2014/main" id="{2629B4C1-3E76-4B88-9F99-FC0A02A4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71675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ext-97">
            <a:extLst xmlns:a="http://schemas.openxmlformats.org/drawingml/2006/main">
              <a:ext uri="{FF2B5EF4-FFF2-40B4-BE49-F238E27FC236}">
                <a16:creationId xmlns:a16="http://schemas.microsoft.com/office/drawing/2014/main" id="{2C0389E8-BFA4-41EF-BA3D-8DCF107C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Preparar o piloto</a:t>
            </a:r>
          </a:p>
        </p:txBody>
      </p:sp>
      <p:sp>
        <p:nvSpPr>
          <p:cNvPr id="7" name="text-98">
            <a:extLst xmlns:a="http://schemas.openxmlformats.org/drawingml/2006/main">
              <a:ext uri="{FF2B5EF4-FFF2-40B4-BE49-F238E27FC236}">
                <a16:creationId xmlns:a16="http://schemas.microsoft.com/office/drawing/2014/main" id="{5C8CDF52-FDA7-4808-915D-30CADF49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3286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Alinhar a grade, configurar regras e implementar o ambiente de uso real.</a:t>
            </a:r>
          </a:p>
        </p:txBody>
      </p:sp>
      <p:sp>
        <p:nvSpPr>
          <p:cNvPr id="8" name="text-99">
            <a:extLst xmlns:a="http://schemas.openxmlformats.org/drawingml/2006/main">
              <a:ext uri="{FF2B5EF4-FFF2-40B4-BE49-F238E27FC236}">
                <a16:creationId xmlns:a16="http://schemas.microsoft.com/office/drawing/2014/main" id="{D6129D93-0D6D-4A50-AAA4-4214B006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71675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text-100">
            <a:extLst xmlns:a="http://schemas.openxmlformats.org/drawingml/2006/main">
              <a:ext uri="{FF2B5EF4-FFF2-40B4-BE49-F238E27FC236}">
                <a16:creationId xmlns:a16="http://schemas.microsoft.com/office/drawing/2014/main" id="{9B433E52-E41A-4982-B1A9-81C6836A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Avaliar o uso</a:t>
            </a:r>
          </a:p>
        </p:txBody>
      </p:sp>
      <p:sp>
        <p:nvSpPr>
          <p:cNvPr id="10" name="text-101">
            <a:extLst xmlns:a="http://schemas.openxmlformats.org/drawingml/2006/main">
              <a:ext uri="{FF2B5EF4-FFF2-40B4-BE49-F238E27FC236}">
                <a16:creationId xmlns:a16="http://schemas.microsoft.com/office/drawing/2014/main" id="{B55D0B3F-8A1C-4D8F-B426-910AE69C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52800"/>
            <a:ext cx="3286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Observar participação, revisões concluídas e utilidade dos modelos em aula.</a:t>
            </a:r>
          </a:p>
        </p:txBody>
      </p:sp>
      <p:sp>
        <p:nvSpPr>
          <p:cNvPr id="11" name="text-102">
            <a:extLst xmlns:a="http://schemas.openxmlformats.org/drawingml/2006/main">
              <a:ext uri="{FF2B5EF4-FFF2-40B4-BE49-F238E27FC236}">
                <a16:creationId xmlns:a16="http://schemas.microsoft.com/office/drawing/2014/main" id="{357CDE36-E7D9-4B7E-BA21-00B2D721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Prazo, investimento e critérios de sucesso serão definidos com a direção.</a:t>
            </a:r>
          </a:p>
        </p:txBody>
      </p:sp>
      <p:sp>
        <p:nvSpPr>
          <p:cNvPr id="12" name="goto-2-140">
            <a:extLst xmlns:a="http://schemas.openxmlformats.org/drawingml/2006/main">
              <a:ext uri="{FF2B5EF4-FFF2-40B4-BE49-F238E27FC236}">
                <a16:creationId xmlns:a16="http://schemas.microsoft.com/office/drawing/2014/main" id="{E97ED31E-2F1F-485C-BCEA-C70E887AB788}"/>
              </a:ext>
            </a:extLst>
            <ns0:hlinkClick xmlns:ns0="http://schemas.openxmlformats.org/drawingml/2006/main" xmlns:ns1="http://schemas.openxmlformats.org/officeDocument/2006/relationships" ns1:id="rIdNavigation3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13" name="goto-14-141">
            <a:extLst xmlns:a="http://schemas.openxmlformats.org/drawingml/2006/main">
              <a:ext uri="{FF2B5EF4-FFF2-40B4-BE49-F238E27FC236}">
                <a16:creationId xmlns:a16="http://schemas.microsoft.com/office/drawing/2014/main" id="{4CB8CFF1-125D-4C54-B8A0-1F06475E3CDA}"/>
              </a:ext>
            </a:extLst>
            <ns2:hlinkClick xmlns:ns2="http://schemas.openxmlformats.org/drawingml/2006/main" xmlns:ns3="http://schemas.openxmlformats.org/officeDocument/2006/relationships" ns3:id="rIdNavigation3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5107859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03">
            <a:extLst xmlns:a="http://schemas.openxmlformats.org/drawingml/2006/main">
              <a:ext uri="{FF2B5EF4-FFF2-40B4-BE49-F238E27FC236}">
                <a16:creationId xmlns:a16="http://schemas.microsoft.com/office/drawing/2014/main" id="{5D7A8F75-1E59-47CF-B851-5B9A7F5B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Demonstração em poucos passos</a:t>
            </a:r>
          </a:p>
        </p:txBody>
      </p:sp>
      <p:sp>
        <p:nvSpPr>
          <p:cNvPr id="2" name="text-104">
            <a:extLst xmlns:a="http://schemas.openxmlformats.org/drawingml/2006/main">
              <a:ext uri="{FF2B5EF4-FFF2-40B4-BE49-F238E27FC236}">
                <a16:creationId xmlns:a16="http://schemas.microsoft.com/office/drawing/2014/main" id="{170C1DEE-1B95-46AD-94BB-D8C2EEE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4C901604-9C6A-45EB-B7AE-5BD74D40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43100"/>
            <a:ext cx="357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Início e Estudos</a:t>
            </a:r>
          </a:p>
        </p:txBody>
      </p:sp>
      <p:sp>
        <p:nvSpPr>
          <p:cNvPr id="4" name="text-106">
            <a:extLst xmlns:a="http://schemas.openxmlformats.org/drawingml/2006/main">
              <a:ext uri="{FF2B5EF4-FFF2-40B4-BE49-F238E27FC236}">
                <a16:creationId xmlns:a16="http://schemas.microsoft.com/office/drawing/2014/main" id="{A929CE9A-56E2-438F-B87C-EB7448C7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621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Mostre a turma, revele um flashcard e conclua um treino.</a:t>
            </a:r>
          </a:p>
        </p:txBody>
      </p:sp>
      <p:sp>
        <p:nvSpPr>
          <p:cNvPr id="5" name="text-107">
            <a:extLst xmlns:a="http://schemas.openxmlformats.org/drawingml/2006/main">
              <a:ext uri="{FF2B5EF4-FFF2-40B4-BE49-F238E27FC236}">
                <a16:creationId xmlns:a16="http://schemas.microsoft.com/office/drawing/2014/main" id="{1D7489D1-F49D-456E-A46A-4E1C1D0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26A77B7C-64E4-4C6C-8A7A-BFD64D5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86075"/>
            <a:ext cx="357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Perfil Professor</a:t>
            </a:r>
          </a:p>
        </p:txBody>
      </p:sp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DBB4B2E3-9B3C-40D0-8CFA-B5466D2C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Escolha um modelo 3D e explore o roteiro de apresentação.</a:t>
            </a:r>
          </a:p>
        </p:txBody>
      </p:sp>
      <p:sp>
        <p:nvSpPr>
          <p:cNvPr id="8" name="text-110">
            <a:extLst xmlns:a="http://schemas.openxmlformats.org/drawingml/2006/main">
              <a:ext uri="{FF2B5EF4-FFF2-40B4-BE49-F238E27FC236}">
                <a16:creationId xmlns:a16="http://schemas.microsoft.com/office/drawing/2014/main" id="{D43C8CCA-D6CC-48EE-8C92-0D013BDB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38575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text-111">
            <a:extLst xmlns:a="http://schemas.openxmlformats.org/drawingml/2006/main">
              <a:ext uri="{FF2B5EF4-FFF2-40B4-BE49-F238E27FC236}">
                <a16:creationId xmlns:a16="http://schemas.microsoft.com/office/drawing/2014/main" id="{DA6B0569-D1C8-4EA1-BE5A-97E9AD0A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29050"/>
            <a:ext cx="357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Eventos e resgates</a:t>
            </a:r>
          </a:p>
        </p:txBody>
      </p:sp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8D9A1346-A67B-48B7-83D8-24A395C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481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Use a Festa Junina para demonstrar uma solicitação.</a:t>
            </a:r>
          </a:p>
        </p:txBody>
      </p:sp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E4BF83F0-64A2-41CB-B6BE-E68DB691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text-114">
            <a:extLst xmlns:a="http://schemas.openxmlformats.org/drawingml/2006/main">
              <a:ext uri="{FF2B5EF4-FFF2-40B4-BE49-F238E27FC236}">
                <a16:creationId xmlns:a16="http://schemas.microsoft.com/office/drawing/2014/main" id="{C4D49568-690F-4F14-9C8B-65D27DC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357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Perfil Coordenação</a:t>
            </a:r>
          </a:p>
        </p:txBody>
      </p:sp>
      <p:sp>
        <p:nvSpPr>
          <p:cNvPr id="13" name="text-115">
            <a:extLst xmlns:a="http://schemas.openxmlformats.org/drawingml/2006/main">
              <a:ext uri="{FF2B5EF4-FFF2-40B4-BE49-F238E27FC236}">
                <a16:creationId xmlns:a16="http://schemas.microsoft.com/office/drawing/2014/main" id="{05B5196D-3280-4C50-97FD-AAB21515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9107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Confira o pedido e mostre a exportação para Excel.</a:t>
            </a:r>
          </a:p>
        </p:txBody>
      </p:sp>
      <p:sp>
        <p:nvSpPr>
          <p:cNvPr id="14" name="goto-2-142">
            <a:extLst xmlns:a="http://schemas.openxmlformats.org/drawingml/2006/main">
              <a:ext uri="{FF2B5EF4-FFF2-40B4-BE49-F238E27FC236}">
                <a16:creationId xmlns:a16="http://schemas.microsoft.com/office/drawing/2014/main" id="{071B05D7-F652-4623-83F2-5C4D9E9D3835}"/>
              </a:ext>
            </a:extLst>
            <ns0:hlinkClick xmlns:ns0="http://schemas.openxmlformats.org/drawingml/2006/main" xmlns:ns1="http://schemas.openxmlformats.org/officeDocument/2006/relationships" ns1:id="rIdNavigation3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15" name="goto-15-143">
            <a:extLst xmlns:a="http://schemas.openxmlformats.org/drawingml/2006/main">
              <a:ext uri="{FF2B5EF4-FFF2-40B4-BE49-F238E27FC236}">
                <a16:creationId xmlns:a16="http://schemas.microsoft.com/office/drawing/2014/main" id="{76384C51-619C-4381-9500-F1B060789E5C}"/>
              </a:ext>
            </a:extLst>
            <ns2:hlinkClick xmlns:ns2="http://schemas.openxmlformats.org/drawingml/2006/main" xmlns:ns3="http://schemas.openxmlformats.org/officeDocument/2006/relationships" ns3:id="rIdNavigation3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34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Continuar</a:t>
            </a:r>
          </a:p>
        </p:txBody>
      </p:sp>
    </p:spTree>
    <p:extLst>
      <p:ext uri="{BB962C8B-B14F-4D97-AF65-F5344CB8AC3E}">
        <p14:creationId xmlns:p14="http://schemas.microsoft.com/office/powerpoint/2010/main" val="14000904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6">
            <a:extLst xmlns:a="http://schemas.openxmlformats.org/drawingml/2006/main">
              <a:ext uri="{FF2B5EF4-FFF2-40B4-BE49-F238E27FC236}">
                <a16:creationId xmlns:a16="http://schemas.microsoft.com/office/drawing/2014/main" id="{40C7B77F-56FF-4DE5-819A-185DB5C9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HopeLeaf + Externato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f13a2e82d4d9b"/>
          <a:stretch xmlns:a="http://schemas.openxmlformats.org/drawingml/2006/main"/>
        </p:blipFill>
        <p:spPr>
          <a:xfrm xmlns:a="http://schemas.openxmlformats.org/drawingml/2006/main">
            <a:off x="7858125" y="19431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3" name="text-117">
            <a:extLst xmlns:a="http://schemas.openxmlformats.org/drawingml/2006/main">
              <a:ext uri="{FF2B5EF4-FFF2-40B4-BE49-F238E27FC236}">
                <a16:creationId xmlns:a16="http://schemas.microsoft.com/office/drawing/2014/main" id="{4AC55474-9AE0-4D44-8E67-1139D4A6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24100"/>
            <a:ext cx="70961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O próximo passo é construir</a:t>
            </a:r>
          </a:p>
          <a:p xmlns:a="http://schemas.openxmlformats.org/drawingml/2006/main">
            <a:pPr>
              <a:defRPr sz="3450" b="1">
                <a:solidFill>
                  <a:srgbClr val="10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C49"/>
                </a:solidFill>
                <a:latin typeface="Arial"/>
                <a:ea typeface="Arial"/>
                <a:cs typeface="Arial"/>
              </a:rPr>
              <a:t>o piloto com a escola</a:t>
            </a:r>
          </a:p>
        </p:txBody>
      </p:sp>
      <p:sp>
        <p:nvSpPr>
          <p:cNvPr id="4" name="text-118">
            <a:extLst xmlns:a="http://schemas.openxmlformats.org/drawingml/2006/main">
              <a:ext uri="{FF2B5EF4-FFF2-40B4-BE49-F238E27FC236}">
                <a16:creationId xmlns:a16="http://schemas.microsoft.com/office/drawing/2014/main" id="{359917D1-CDA7-4032-B8ED-AF6018BD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676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Uma conversa sobre a turma inicial,</a:t>
            </a:r>
          </a:p>
          <a:p xmlns:a="http://schemas.openxmlformats.org/drawingml/2006/main">
            <a:pPr>
              <a:defRPr sz="2325" b="0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56078"/>
                </a:solidFill>
                <a:latin typeface="Arial"/>
                <a:ea typeface="Arial"/>
                <a:cs typeface="Arial"/>
              </a:rPr>
              <a:t>os conteúdos e os critérios de avaliação.</a:t>
            </a:r>
          </a:p>
        </p:txBody>
      </p:sp>
      <p:sp>
        <p:nvSpPr>
          <p:cNvPr id="5" name="goto-13-119">
            <a:extLst xmlns:a="http://schemas.openxmlformats.org/drawingml/2006/main">
              <a:ext uri="{FF2B5EF4-FFF2-40B4-BE49-F238E27FC236}">
                <a16:creationId xmlns:a16="http://schemas.microsoft.com/office/drawing/2014/main" id="{0C8DEDC2-0294-4855-8077-6FC304CAFC80}"/>
              </a:ext>
            </a:extLst>
            <ns0:hlinkClick xmlns:ns0="http://schemas.openxmlformats.org/drawingml/2006/main" xmlns:ns1="http://schemas.openxmlformats.org/officeDocument/2006/relationships" ns1:id="rIdNavigation3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5ED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5EDD"/>
                </a:solidFill>
                <a:latin typeface="Arial"/>
                <a:ea typeface="Arial"/>
                <a:cs typeface="Arial"/>
              </a:rPr>
              <a:t>Rever a proposta de piloto</a:t>
            </a:r>
          </a:p>
        </p:txBody>
      </p:sp>
      <p:sp>
        <p:nvSpPr>
          <p:cNvPr id="6" name="goto-2-144">
            <a:extLst xmlns:a="http://schemas.openxmlformats.org/drawingml/2006/main">
              <a:ext uri="{FF2B5EF4-FFF2-40B4-BE49-F238E27FC236}">
                <a16:creationId xmlns:a16="http://schemas.microsoft.com/office/drawing/2014/main" id="{DB2CC9E0-E016-45AB-A0B5-5285D31E2756}"/>
              </a:ext>
            </a:extLst>
            <ns2:hlinkClick xmlns:ns2="http://schemas.openxmlformats.org/drawingml/2006/main" xmlns:ns3="http://schemas.openxmlformats.org/officeDocument/2006/relationships" ns3:id="rIdNavigation3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560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6078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</p:spTree>
    <p:extLst>
      <p:ext uri="{BB962C8B-B14F-4D97-AF65-F5344CB8AC3E}">
        <p14:creationId xmlns:p14="http://schemas.microsoft.com/office/powerpoint/2010/main" val="897153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2026-09-09T17:15:26.6900000Z</dcterms:created>
  <dcterms:modified xsi:type="dcterms:W3CDTF">2026-09-09T17:15:26.6900000Z</dcterms:modified>
</coreProperties>
</file>